
<file path=[Content_Types].xml><?xml version="1.0" encoding="utf-8"?>
<Types xmlns="http://schemas.openxmlformats.org/package/2006/content-types">
  <Default Extension="bmp" ContentType="image/bmp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8"/>
  </p:notesMasterIdLst>
  <p:sldIdLst>
    <p:sldId id="268" r:id="rId2"/>
    <p:sldId id="274" r:id="rId3"/>
    <p:sldId id="257" r:id="rId4"/>
    <p:sldId id="275" r:id="rId5"/>
    <p:sldId id="258" r:id="rId6"/>
    <p:sldId id="259" r:id="rId7"/>
    <p:sldId id="270" r:id="rId8"/>
    <p:sldId id="271" r:id="rId9"/>
    <p:sldId id="260" r:id="rId10"/>
    <p:sldId id="272" r:id="rId11"/>
    <p:sldId id="261" r:id="rId12"/>
    <p:sldId id="262" r:id="rId13"/>
    <p:sldId id="263" r:id="rId14"/>
    <p:sldId id="265" r:id="rId15"/>
    <p:sldId id="277" r:id="rId16"/>
    <p:sldId id="273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</p:sldIdLst>
  <p:sldSz cx="14630400" cy="20680363"/>
  <p:notesSz cx="9939338" cy="6807200"/>
  <p:embeddedFontLst>
    <p:embeddedFont>
      <p:font typeface="G마켓 산스 TTF Bold" panose="02000000000000000000" pitchFamily="2" charset="-127"/>
      <p:bold r:id="rId29"/>
    </p:embeddedFont>
    <p:embeddedFont>
      <p:font typeface="Pretendard Black" panose="02000A03000000020004" pitchFamily="50" charset="-127"/>
      <p:bold r:id="rId30"/>
    </p:embeddedFont>
    <p:embeddedFont>
      <p:font typeface="Pretendard Light" panose="02000403000000020004" pitchFamily="50" charset="-127"/>
      <p:regular r:id="rId31"/>
    </p:embeddedFont>
    <p:embeddedFont>
      <p:font typeface="Pretendard Medium" panose="02000603000000020004" pitchFamily="50" charset="-127"/>
      <p:regular r:id="rId32"/>
    </p:embeddedFont>
    <p:embeddedFont>
      <p:font typeface="Pretendard SemiBold" panose="02000703000000020004" pitchFamily="50" charset="-127"/>
      <p:bold r:id="rId33"/>
    </p:embeddedFont>
    <p:embeddedFont>
      <p:font typeface="Pretendard Variable" panose="00000500000000000000" pitchFamily="2" charset="-127"/>
      <p:regular r:id="rId34"/>
      <p:bold r:id="rId35"/>
    </p:embeddedFont>
    <p:embeddedFont>
      <p:font typeface="Pretendard Variable Light" panose="00000500000000000000" pitchFamily="2" charset="-127"/>
      <p:regular r:id="rId36"/>
    </p:embeddedFont>
    <p:embeddedFont>
      <p:font typeface="Pretendard Variable Medium" panose="00000500000000000000" pitchFamily="2" charset="-127"/>
      <p:regular r:id="rId37"/>
    </p:embeddedFont>
    <p:embeddedFont>
      <p:font typeface="나눔바른고딕" panose="020B0603020101020101" pitchFamily="50" charset="-127"/>
      <p:regular r:id="rId38"/>
      <p:bold r:id="rId39"/>
    </p:embeddedFont>
    <p:embeddedFont>
      <p:font typeface="함초롬바탕" panose="02030604000101010101" pitchFamily="18" charset="-127"/>
      <p:regular r:id="rId40"/>
      <p:bold r:id="rId4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513" userDrawn="1">
          <p15:clr>
            <a:srgbClr val="A4A3A4"/>
          </p15:clr>
        </p15:guide>
        <p15:guide id="2" pos="46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4240"/>
    <a:srgbClr val="FCA07F"/>
    <a:srgbClr val="FBE9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2412" y="-1116"/>
      </p:cViewPr>
      <p:guideLst>
        <p:guide orient="horz" pos="6513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0673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F0C33-3A1F-3F69-83A2-4C221015E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79FDE-510E-4645-7DFA-DD98A2BDB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76F231-CDE0-A04B-33E9-EC265AED1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4C1B0-9FAE-A646-58C1-861AFD78F1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0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37B6D-FD1A-900E-CE85-85C28D477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DA7B0D-9E9F-DF5F-DFCD-57AE4F79B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AC4EDA-88B0-2A5C-2A47-8D3FF5951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CB674-26D7-3344-DE4B-3CCC6A8AFA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71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04730-96D6-35BE-52DC-B896FE4D6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2684C2-E70D-E9AE-B63F-C5915EBCA1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98393-0384-6F31-06C8-BE0B72767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E4C0E-EC8B-80C3-1390-1A1B5C6148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06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A8079-3048-10A8-10C7-2B46215FF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AEEBF-1F2C-EE35-4D9E-DCA613D47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C41993-6E5F-3FA8-4E7E-B10FA31FB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5B08C-276A-83D6-1260-B3A7BFF8AC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72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0D18C-D1EC-5F07-B5F4-868BA2FE7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7207E-EFB5-1F28-0A3A-A31EFB466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A62F78-7D4B-7822-20EE-E7D08016A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5A4C3-45FC-352C-298E-4FDD4919B5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89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42A2-B0FF-F530-84CE-C24743B7E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B90C9-B2A1-376A-3DDD-1B86230B0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BAF6F-4886-2039-0755-8AE3575AB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B0517-7A37-EAA0-2BD0-D0090F3C43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21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4D809-E2D5-24DB-67B7-9AA8275D4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AE1BE-BB08-729B-67CA-D925B38F0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2A0048-1FBA-3007-F967-7D2CB6421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E893F-BBEB-4588-CAF2-96E2E06388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185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B84BC-D76E-BBA5-656E-016F2B203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922373-4B68-E5E5-74A5-942AED700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8AD25-0F07-37CE-557F-D0FC2A125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4ED8D-902F-B2EB-9F1D-215067FBBA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430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32620-051F-38CE-788E-B211B1205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AB997-4C5B-BC6F-86C7-45F3AFF67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9A1FE-B567-F2FB-1F90-F19502CF1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7C384-3507-17B9-6757-826C60139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75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B0FAA-9887-B70F-61EC-F56231191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27747-9FEE-68F0-BBE1-59BBBFFD3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F01B7-5E4A-A8D5-4EB3-3DC48EF66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8BF90-B194-FAC9-BD37-BE0A7A7C8A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7934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2766C-9AF8-BD80-D014-5280526A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411AE1-1FB4-F64C-934A-741697109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90B401-F484-3585-5600-2F396C3A3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4D8CE-2E94-9991-F177-256B221903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041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6BD31-653A-FD25-B3B7-8310A34D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6C59D-F0CC-EA7D-9D84-F50E60914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6DB89-F06A-7A38-7642-28408E611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97B05-7FAF-5756-BD35-401C097F85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012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52D16-D6C6-ADB7-518A-D45CB39E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30F43-D779-EEFF-79DF-C8E116B07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4E7E7-3CE0-093F-3FCF-D01AED903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093D4-F655-B120-7F89-DF09E8E0BB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630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8DDDD-CA62-E4B3-BCC5-3061F0B25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21D4A2-53FD-63C8-A63F-53057A19E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81B6A-37A2-BD18-A646-584033DE9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EB700-E3DD-B9C7-2D6C-916E43C4B4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832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0B7E7-A2C0-042A-9DA2-033EBDF92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76E34-521E-D133-8436-B7A030DDE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656DF-BFAC-DDD0-DC53-9C8BB3609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3361" tIns="21680" rIns="43361" bIns="2168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5E45D-E9AF-C7CF-3AF8-354CFBF20B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43361" tIns="21680" rIns="43361" bIns="21680"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77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281" cy="206806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281" cy="20680698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281" cy="206806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281" cy="20680698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281" cy="206806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281" cy="20680698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281" cy="206806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281" cy="20680698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281" cy="206806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281" cy="20680698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281" cy="206806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281" cy="20680698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281" cy="206806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281" cy="20680698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281" cy="206806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281" cy="20680698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281" cy="206806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281" cy="20680698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281" cy="206806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281" cy="20680698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281" cy="206806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281" cy="20680698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281" cy="206806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281" cy="20680698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b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F58FCEA9-6B6C-C77C-57D3-9A9017A6FB6E}"/>
              </a:ext>
            </a:extLst>
          </p:cNvPr>
          <p:cNvSpPr/>
          <p:nvPr/>
        </p:nvSpPr>
        <p:spPr>
          <a:xfrm>
            <a:off x="939522" y="5855378"/>
            <a:ext cx="10648117" cy="196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0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네니아 자동화</a:t>
            </a:r>
          </a:p>
          <a:p>
            <a:pPr marL="0" indent="0" algn="l">
              <a:buNone/>
            </a:pPr>
            <a:r>
              <a:rPr lang="ko-KR" altLang="en-US" sz="70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프로그램</a:t>
            </a:r>
            <a:r>
              <a:rPr lang="en-US" sz="70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 </a:t>
            </a:r>
            <a:r>
              <a:rPr lang="ko-KR" altLang="en-US" sz="70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가이드</a:t>
            </a:r>
            <a:endParaRPr lang="en-US" altLang="ko-KR" sz="7000">
              <a:solidFill>
                <a:srgbClr val="45424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41BC5984-47BA-DFBF-1053-818BC646FAC7}"/>
              </a:ext>
            </a:extLst>
          </p:cNvPr>
          <p:cNvSpPr/>
          <p:nvPr/>
        </p:nvSpPr>
        <p:spPr>
          <a:xfrm>
            <a:off x="939522" y="11927260"/>
            <a:ext cx="12751237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Adobe Illustrator에서 상품 페이지 레이아웃을 자동으로 생성하는 전문 </a:t>
            </a:r>
            <a:r>
              <a:rPr lang="en-US" sz="21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도구의 사용 가이드입니다.</a:t>
            </a:r>
            <a:endParaRPr lang="en-US" sz="2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987C9E-81C0-2635-2C69-53FD53D0F5B9}"/>
              </a:ext>
            </a:extLst>
          </p:cNvPr>
          <p:cNvSpPr/>
          <p:nvPr/>
        </p:nvSpPr>
        <p:spPr>
          <a:xfrm>
            <a:off x="939522" y="17853481"/>
            <a:ext cx="12751237" cy="1013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350"/>
              </a:lnSpc>
              <a:buNone/>
            </a:pPr>
            <a:r>
              <a:rPr lang="ko-KR" altLang="en-US" sz="28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홍보팀 </a:t>
            </a:r>
            <a:r>
              <a:rPr lang="ko-KR" altLang="en-US" sz="2800"/>
              <a:t>김민준 대리</a:t>
            </a:r>
            <a:endParaRPr lang="en-US" sz="2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05E3F04-0244-C596-4A7C-DF6CA8B38B55}"/>
              </a:ext>
            </a:extLst>
          </p:cNvPr>
          <p:cNvSpPr/>
          <p:nvPr/>
        </p:nvSpPr>
        <p:spPr>
          <a:xfrm>
            <a:off x="3042642" y="17014566"/>
            <a:ext cx="1064811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6600"/>
              </a:lnSpc>
              <a:buNone/>
            </a:pPr>
            <a:r>
              <a:rPr lang="ko-KR" altLang="en-US" sz="4000">
                <a:solidFill>
                  <a:srgbClr val="45424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농업회사법인</a:t>
            </a:r>
            <a:r>
              <a:rPr lang="en-US" altLang="ko-KR" sz="4000">
                <a:solidFill>
                  <a:srgbClr val="45424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4000">
                <a:solidFill>
                  <a:srgbClr val="45424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</a:t>
            </a:r>
            <a:r>
              <a:rPr lang="en-US" altLang="ko-KR" sz="4000">
                <a:solidFill>
                  <a:srgbClr val="45424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r>
              <a:rPr lang="ko-KR" altLang="en-US" sz="4000">
                <a:solidFill>
                  <a:srgbClr val="45424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네니아</a:t>
            </a:r>
            <a:endParaRPr lang="en-US" sz="4000" dirty="0">
              <a:solidFill>
                <a:srgbClr val="45424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그래픽, 그래픽 디자인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0AB962-A8FA-B556-C532-F97110934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22" y="3572183"/>
            <a:ext cx="1706351" cy="15262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A331D0-BAE7-4C49-9B3A-3746B6EA4F61}"/>
              </a:ext>
            </a:extLst>
          </p:cNvPr>
          <p:cNvSpPr txBox="1"/>
          <p:nvPr/>
        </p:nvSpPr>
        <p:spPr>
          <a:xfrm>
            <a:off x="939522" y="8569033"/>
            <a:ext cx="6987397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600"/>
              </a:lnSpc>
            </a:pPr>
            <a:r>
              <a:rPr lang="en-US" altLang="ko-KR" sz="6000"/>
              <a:t>• </a:t>
            </a:r>
            <a:r>
              <a:rPr lang="en-US" altLang="ko-KR" sz="6000">
                <a:solidFill>
                  <a:srgbClr val="454240"/>
                </a:solidFill>
              </a:rPr>
              <a:t>Auto-DanGGA</a:t>
            </a:r>
          </a:p>
          <a:p>
            <a:pPr>
              <a:lnSpc>
                <a:spcPts val="6600"/>
              </a:lnSpc>
            </a:pPr>
            <a:r>
              <a:rPr lang="en-US" altLang="ko-KR" sz="6000"/>
              <a:t>• </a:t>
            </a:r>
            <a:r>
              <a:rPr lang="en-US" altLang="ko-KR" sz="6000">
                <a:solidFill>
                  <a:srgbClr val="454240"/>
                </a:solidFill>
              </a:rPr>
              <a:t>Only-DanGGA</a:t>
            </a:r>
          </a:p>
          <a:p>
            <a:pPr>
              <a:lnSpc>
                <a:spcPts val="6600"/>
              </a:lnSpc>
            </a:pPr>
            <a:r>
              <a:rPr lang="en-US" altLang="ko-KR" sz="6000"/>
              <a:t>• </a:t>
            </a:r>
            <a:r>
              <a:rPr lang="en-US" altLang="ko-KR" sz="6000">
                <a:solidFill>
                  <a:srgbClr val="454240"/>
                </a:solidFill>
              </a:rPr>
              <a:t>PDMS</a:t>
            </a:r>
            <a:endParaRPr lang="ko-KR" altLang="en-US" sz="6000"/>
          </a:p>
        </p:txBody>
      </p:sp>
    </p:spTree>
    <p:extLst>
      <p:ext uri="{BB962C8B-B14F-4D97-AF65-F5344CB8AC3E}">
        <p14:creationId xmlns:p14="http://schemas.microsoft.com/office/powerpoint/2010/main" val="668778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8C4A67-1615-5875-35AA-0736107CDB78}"/>
              </a:ext>
            </a:extLst>
          </p:cNvPr>
          <p:cNvSpPr txBox="1"/>
          <p:nvPr/>
        </p:nvSpPr>
        <p:spPr>
          <a:xfrm>
            <a:off x="963826" y="1414789"/>
            <a:ext cx="12925169" cy="1236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5000"/>
              </a:lnSpc>
              <a:buNone/>
            </a:pPr>
            <a:r>
              <a:rPr lang="ko-KR" altLang="en-US" sz="5000" kern="0" spc="0">
                <a:solidFill>
                  <a:srgbClr val="000000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단가표 자동화 프로그램 목적</a:t>
            </a:r>
            <a:endParaRPr lang="ko-KR" altLang="en-US" sz="50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6DBCD0-F467-7F99-2B88-9443502097B1}"/>
              </a:ext>
            </a:extLst>
          </p:cNvPr>
          <p:cNvSpPr txBox="1"/>
          <p:nvPr/>
        </p:nvSpPr>
        <p:spPr>
          <a:xfrm>
            <a:off x="963825" y="3108118"/>
            <a:ext cx="12403831" cy="1974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ko-KR" altLang="en-US" sz="2100" b="1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두 가지의 어도비 일러스트레이션 전용 스크립트 ‘</a:t>
            </a:r>
            <a:r>
              <a:rPr lang="en-US" altLang="ko-KR" sz="2100" b="1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Auto-DanGGA’, ‘Only-DanGGA’</a:t>
            </a:r>
            <a:r>
              <a:rPr lang="ko-KR" altLang="en-US" sz="2100" b="1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와 </a:t>
            </a:r>
            <a:endParaRPr lang="en-US" altLang="ko-KR" sz="2100" b="1" kern="100" spc="0">
              <a:solidFill>
                <a:srgbClr val="000000"/>
              </a:solidFill>
              <a:effectLst/>
              <a:latin typeface="Pretendard Variable" panose="00000500000000000000" pitchFamily="2" charset="-127"/>
              <a:ea typeface="Pretendard Variable" panose="00000500000000000000" pitchFamily="2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ko-KR" altLang="en-US" sz="2100" b="1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윈도우 기반 프로그램 ‘</a:t>
            </a:r>
            <a:r>
              <a:rPr lang="en-US" altLang="ko-KR" sz="2100" b="1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PDMS(</a:t>
            </a:r>
            <a:r>
              <a:rPr lang="ko-KR" altLang="en-US" sz="2100" b="1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상품 데이터 관리 시스템</a:t>
            </a:r>
            <a:r>
              <a:rPr lang="en-US" altLang="ko-KR" sz="2100" b="1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)’</a:t>
            </a:r>
            <a:r>
              <a:rPr lang="ko-KR" altLang="en-US" sz="2100" b="1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을 통해 단가표 제작 시 반복되는 작업을 자동화 하여 </a:t>
            </a:r>
            <a:endParaRPr lang="en-US" altLang="ko-KR" sz="2100" b="1" kern="100" spc="0">
              <a:solidFill>
                <a:srgbClr val="000000"/>
              </a:solidFill>
              <a:effectLst/>
              <a:latin typeface="Pretendard Variable" panose="00000500000000000000" pitchFamily="2" charset="-127"/>
              <a:ea typeface="Pretendard Variable" panose="00000500000000000000" pitchFamily="2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ko-KR" altLang="en-US" sz="2100" b="1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오류 및 오탈자를 방지하고 잦은 수정으로 인한 업무 피로도를 감소 시키며 </a:t>
            </a:r>
            <a:endParaRPr lang="en-US" altLang="ko-KR" sz="2100" b="1" kern="100" spc="0">
              <a:solidFill>
                <a:srgbClr val="000000"/>
              </a:solidFill>
              <a:effectLst/>
              <a:latin typeface="Pretendard Variable" panose="00000500000000000000" pitchFamily="2" charset="-127"/>
              <a:ea typeface="Pretendard Variable" panose="00000500000000000000" pitchFamily="2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ko-KR" altLang="en-US" sz="2100" b="1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‘빠르고</a:t>
            </a:r>
            <a:r>
              <a:rPr lang="en-US" altLang="ko-KR" sz="2100" b="1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, </a:t>
            </a:r>
            <a:r>
              <a:rPr lang="ko-KR" altLang="en-US" sz="2100" b="1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정확한 단가표 제작’을 위한 세가지 프로그램입니다</a:t>
            </a:r>
            <a:r>
              <a:rPr lang="en-US" altLang="ko-KR" sz="2100" b="1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34733A-1F31-401A-DFE8-FB51AB2494E2}"/>
              </a:ext>
            </a:extLst>
          </p:cNvPr>
          <p:cNvSpPr txBox="1"/>
          <p:nvPr/>
        </p:nvSpPr>
        <p:spPr>
          <a:xfrm>
            <a:off x="963825" y="6354319"/>
            <a:ext cx="12727461" cy="6751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ko-KR" altLang="en-US" sz="4000" b="1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● </a:t>
            </a:r>
            <a:r>
              <a:rPr lang="en-US" altLang="ko-KR" sz="4000" b="1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Auto-DanGGA</a:t>
            </a:r>
            <a:endParaRPr lang="ko-KR" altLang="en-US" sz="40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en-US" altLang="ko-KR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• </a:t>
            </a:r>
            <a:r>
              <a:rPr lang="ko-KR" altLang="en-US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메인 프로그램</a:t>
            </a:r>
            <a:r>
              <a:rPr lang="en-US" altLang="ko-KR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(</a:t>
            </a:r>
            <a:r>
              <a:rPr lang="ko-KR" altLang="en-US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스크립트</a:t>
            </a:r>
            <a:r>
              <a:rPr lang="en-US" altLang="ko-KR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)</a:t>
            </a:r>
            <a:r>
              <a:rPr lang="ko-KR" altLang="en-US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로 모든 자동화 기능 탑재</a:t>
            </a:r>
            <a:r>
              <a:rPr lang="en-US" altLang="ko-KR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. </a:t>
            </a:r>
            <a:r>
              <a:rPr lang="ko-KR" altLang="en-US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최초 페이지별 디자인에 적용</a:t>
            </a:r>
            <a:endParaRPr lang="ko-KR" altLang="en-US" sz="21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en-US" altLang="ko-KR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• 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Adobe Illustrator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에서 상품 내용을 자동으로 생성하는 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ExtendScript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기반 도구입니다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.</a:t>
            </a:r>
            <a:endParaRPr lang="ko-KR" altLang="en-US" sz="21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en-US" altLang="ko-KR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• 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CSV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데이터를 기반으로 단가표의 텍스트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이미지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가격 등을 자동화합니다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.</a:t>
            </a:r>
          </a:p>
          <a:p>
            <a:pPr marL="0" marR="0" indent="0" algn="l" fontAlgn="base" latinLnBrk="1">
              <a:lnSpc>
                <a:spcPct val="150000"/>
              </a:lnSpc>
              <a:buNone/>
            </a:pPr>
            <a:endParaRPr lang="ko-KR" altLang="en-US" sz="12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ko-KR" altLang="en-US" sz="4000" b="1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● </a:t>
            </a:r>
            <a:r>
              <a:rPr lang="en-US" altLang="ko-KR" sz="4000" b="1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Only-DanGGA</a:t>
            </a:r>
            <a:endParaRPr lang="ko-KR" altLang="en-US" sz="40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en-US" altLang="ko-KR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• </a:t>
            </a:r>
            <a:r>
              <a:rPr lang="ko-KR" altLang="en-US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지역별 파일 적용 프로그램</a:t>
            </a:r>
            <a:r>
              <a:rPr lang="en-US" altLang="ko-KR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(</a:t>
            </a:r>
            <a:r>
              <a:rPr lang="ko-KR" altLang="en-US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스크립트</a:t>
            </a:r>
            <a:r>
              <a:rPr lang="en-US" altLang="ko-KR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)</a:t>
            </a:r>
            <a:r>
              <a:rPr lang="ko-KR" altLang="en-US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로 디자인을 마친 페이지에 가격 일괄 적용</a:t>
            </a:r>
            <a:endParaRPr lang="ko-KR" altLang="en-US" sz="21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en-US" altLang="ko-KR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• 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Adobe Illustrator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에서 상품 내용을 자동으로 생성하는 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ExtendScript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기반 도구입니다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.</a:t>
            </a:r>
            <a:endParaRPr lang="ko-KR" altLang="en-US" sz="21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en-US" altLang="ko-KR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• 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CSV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데이터를 기반으로 단가표의 </a:t>
            </a:r>
            <a:r>
              <a:rPr lang="ko-KR" altLang="en-US" sz="2100" b="1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가격 부분만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Pretendard Variable" panose="00000500000000000000" pitchFamily="2" charset="-127"/>
              </a:rPr>
              <a:t>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자동화합니다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.</a:t>
            </a:r>
          </a:p>
          <a:p>
            <a:pPr marL="0" marR="0" indent="0" algn="l" fontAlgn="base" latinLnBrk="1">
              <a:lnSpc>
                <a:spcPct val="150000"/>
              </a:lnSpc>
              <a:buNone/>
            </a:pPr>
            <a:endParaRPr lang="ko-KR" altLang="en-US" sz="12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ko-KR" altLang="en-US" sz="4000" b="1" kern="10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● </a:t>
            </a:r>
            <a:r>
              <a:rPr lang="ko-KR" altLang="en-US" sz="4000" b="1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상품 데이터 관리시스템 </a:t>
            </a:r>
            <a:r>
              <a:rPr lang="en-US" altLang="ko-KR" sz="2100" b="1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(PDMS : Product Data Management System)</a:t>
            </a:r>
            <a:endParaRPr lang="ko-KR" altLang="en-US" sz="21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en-US" altLang="ko-KR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• </a:t>
            </a:r>
            <a:r>
              <a:rPr lang="ko-KR" altLang="en-US" sz="2100" kern="0" spc="0">
                <a:solidFill>
                  <a:srgbClr val="000000"/>
                </a:solidFill>
                <a:effectLst/>
                <a:latin typeface="Pretendard Variable" panose="00000500000000000000" pitchFamily="2" charset="-127"/>
                <a:ea typeface="Pretendard Variable" panose="00000500000000000000" pitchFamily="2" charset="-127"/>
              </a:rPr>
              <a:t>단가표의 작성될 상품별 원본 데이터 관리 프로그램</a:t>
            </a:r>
            <a:endParaRPr lang="ko-KR" altLang="en-US" sz="21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8788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개요 및 주요 기능</a:t>
            </a:r>
            <a:endParaRPr lang="en-US" sz="52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22" y="2281716"/>
            <a:ext cx="4707493" cy="470749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9AF9E1C-87A8-7CD1-8920-975A9AD932E3}"/>
              </a:ext>
            </a:extLst>
          </p:cNvPr>
          <p:cNvSpPr txBox="1"/>
          <p:nvPr/>
        </p:nvSpPr>
        <p:spPr>
          <a:xfrm>
            <a:off x="1705232" y="8092014"/>
            <a:ext cx="11219935" cy="10043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ko-KR" altLang="en-US" sz="4000" kern="100" spc="0">
                <a:solidFill>
                  <a:srgbClr val="000000"/>
                </a:solidFill>
                <a:effectLst/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● 텍스트 자동화</a:t>
            </a:r>
            <a:endParaRPr lang="ko-KR" altLang="en-US" sz="40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en-US" altLang="ko-KR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•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기본 정보 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상품명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용량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원재료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보관방법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설명란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알러지 정보</a:t>
            </a:r>
            <a:endParaRPr lang="ko-KR" altLang="en-US" sz="21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50000"/>
              </a:lnSpc>
              <a:buNone/>
            </a:pPr>
            <a:r>
              <a:rPr lang="en-US" altLang="ko-KR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•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단가정보 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서브단가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메인단가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개당단가</a:t>
            </a:r>
            <a:endParaRPr lang="ko-KR" altLang="en-US" sz="21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50000"/>
              </a:lnSpc>
              <a:buNone/>
            </a:pPr>
            <a:r>
              <a:rPr lang="en-US" altLang="ko-KR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•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보관방법별 색상 적용 가능 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냉동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파란색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냉장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초록색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상온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회색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marL="0" marR="0" indent="0" algn="just" fontAlgn="base" latinLnBrk="1">
              <a:lnSpc>
                <a:spcPct val="150000"/>
              </a:lnSpc>
              <a:buNone/>
            </a:pPr>
            <a:endParaRPr lang="ko-KR" altLang="en-US" sz="21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ko-KR" altLang="en-US" sz="4000" kern="100" spc="0">
                <a:solidFill>
                  <a:srgbClr val="000000"/>
                </a:solidFill>
                <a:effectLst/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● 이미지 자동화</a:t>
            </a:r>
            <a:endParaRPr lang="ko-KR" altLang="en-US" sz="40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en-US" altLang="ko-KR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•</a:t>
            </a:r>
            <a:r>
              <a:rPr lang="ko-KR" altLang="en-US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상품 이미지</a:t>
            </a:r>
            <a:r>
              <a:rPr lang="en-US" altLang="ko-KR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메인 이미지</a:t>
            </a:r>
            <a:r>
              <a:rPr lang="en-US" altLang="ko-KR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나눔바른고딕" panose="020B0603020101020101" pitchFamily="50" charset="-127"/>
              </a:rPr>
              <a:t> 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자동 연결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(Linked file)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및 비율 맞춤 리사이징</a:t>
            </a:r>
            <a:endParaRPr lang="ko-KR" altLang="en-US" sz="21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en-US" altLang="ko-KR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•</a:t>
            </a:r>
            <a:r>
              <a:rPr lang="ko-KR" altLang="en-US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누끼 이미지</a:t>
            </a:r>
            <a:r>
              <a:rPr lang="en-US" altLang="ko-KR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미니 이미지</a:t>
            </a:r>
            <a:r>
              <a:rPr lang="en-US" altLang="ko-KR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나눔바른고딕" panose="020B0603020101020101" pitchFamily="50" charset="-127"/>
              </a:rPr>
              <a:t> 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조건부 표시 및 자동 연결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(Linked file)</a:t>
            </a:r>
            <a:endParaRPr lang="ko-KR" altLang="en-US" sz="21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en-US" altLang="ko-KR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•</a:t>
            </a:r>
            <a:r>
              <a:rPr lang="ko-KR" altLang="en-US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지원 형식 </a:t>
            </a:r>
            <a:r>
              <a:rPr lang="en-US" altLang="ko-KR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jpg, jpeg, png</a:t>
            </a:r>
          </a:p>
          <a:p>
            <a:pPr marL="0" marR="0" indent="0" algn="l" fontAlgn="base" latinLnBrk="1">
              <a:lnSpc>
                <a:spcPct val="150000"/>
              </a:lnSpc>
              <a:buNone/>
            </a:pPr>
            <a:endParaRPr lang="ko-KR" altLang="en-US" sz="21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ko-KR" altLang="en-US" sz="4000" kern="100" spc="0">
                <a:solidFill>
                  <a:srgbClr val="000000"/>
                </a:solidFill>
                <a:effectLst/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● 부가 기능</a:t>
            </a:r>
            <a:endParaRPr lang="ko-KR" altLang="en-US" sz="40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502410" marR="0" indent="-1502410" algn="l" fontAlgn="base" latinLnBrk="1">
              <a:lnSpc>
                <a:spcPct val="150000"/>
              </a:lnSpc>
              <a:buNone/>
            </a:pPr>
            <a:r>
              <a:rPr lang="en-US" altLang="ko-KR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•</a:t>
            </a:r>
            <a:r>
              <a:rPr lang="ko-KR" altLang="en-US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인증 로고 자동화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나눔바른고딕" panose="020B0603020101020101" pitchFamily="50" charset="-127"/>
              </a:rPr>
              <a:t> 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HACCP,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유기가공식품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전통식품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품질인증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무항생제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무농약가공식품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동물복지</a:t>
            </a:r>
            <a:endParaRPr lang="ko-KR" altLang="en-US" sz="21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en-US" altLang="ko-KR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•</a:t>
            </a:r>
            <a:r>
              <a:rPr lang="ko-KR" altLang="en-US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상품 강조</a:t>
            </a:r>
            <a:r>
              <a:rPr lang="en-US" altLang="ko-KR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(tag)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나눔바른고딕" panose="020B0603020101020101" pitchFamily="50" charset="-127"/>
              </a:rPr>
              <a:t> 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자연해동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D-7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발주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개별포장</a:t>
            </a:r>
            <a:r>
              <a:rPr lang="en-US" altLang="ko-KR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100" kern="10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신상품</a:t>
            </a:r>
            <a:endParaRPr lang="en-US" altLang="ko-KR" sz="2100" kern="100" spc="0">
              <a:solidFill>
                <a:srgbClr val="000000"/>
              </a:solidFill>
              <a:effectLst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endParaRPr lang="ko-KR" altLang="en-US" sz="21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l" fontAlgn="base" latinLnBrk="1">
              <a:lnSpc>
                <a:spcPct val="150000"/>
              </a:lnSpc>
              <a:buNone/>
            </a:pPr>
            <a:r>
              <a:rPr lang="ko-KR" altLang="en-US" sz="4000" kern="100" spc="0">
                <a:solidFill>
                  <a:srgbClr val="000000"/>
                </a:solidFill>
                <a:effectLst/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● 원본 데이터 관리</a:t>
            </a:r>
            <a:endParaRPr lang="ko-KR" altLang="en-US" sz="40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502410" marR="0" indent="-1502410" algn="l" fontAlgn="base" latinLnBrk="1">
              <a:lnSpc>
                <a:spcPct val="150000"/>
              </a:lnSpc>
              <a:buNone/>
            </a:pPr>
            <a:r>
              <a:rPr lang="en-US" altLang="ko-KR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•</a:t>
            </a:r>
            <a:r>
              <a:rPr lang="ko-KR" altLang="en-US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스크립트에 활용되는 </a:t>
            </a:r>
            <a:r>
              <a:rPr lang="en-US" altLang="ko-KR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csv</a:t>
            </a:r>
            <a:r>
              <a:rPr lang="ko-KR" altLang="en-US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 내용의 원본을 관리</a:t>
            </a:r>
            <a:endParaRPr lang="ko-KR" altLang="en-US" sz="21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502410" marR="0" indent="-1502410" algn="l" fontAlgn="base" latinLnBrk="1">
              <a:lnSpc>
                <a:spcPct val="150000"/>
              </a:lnSpc>
              <a:buNone/>
            </a:pPr>
            <a:r>
              <a:rPr lang="en-US" altLang="ko-KR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•</a:t>
            </a:r>
            <a:r>
              <a:rPr lang="ko-KR" altLang="en-US" sz="2100" kern="0" spc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상품의 페이지 배치 기능</a:t>
            </a:r>
            <a:endParaRPr lang="ko-KR" altLang="en-US" sz="2100" kern="0" spc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F376B8-E7C4-F751-D63E-BFEE3A5D976E}"/>
              </a:ext>
            </a:extLst>
          </p:cNvPr>
          <p:cNvSpPr txBox="1"/>
          <p:nvPr/>
        </p:nvSpPr>
        <p:spPr>
          <a:xfrm>
            <a:off x="10083114" y="922922"/>
            <a:ext cx="3212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/>
              <a:t>Auto-DanGGA</a:t>
            </a:r>
            <a:endParaRPr lang="ko-KR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44864E9F-10C0-584E-2E91-B0E88F8D33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52" t="18489" r="26600" b="9584"/>
          <a:stretch>
            <a:fillRect/>
          </a:stretch>
        </p:blipFill>
        <p:spPr>
          <a:xfrm>
            <a:off x="241643" y="4149199"/>
            <a:ext cx="14147114" cy="1435924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90716D0-901E-ECDB-E16E-37C75CC79EEC}"/>
              </a:ext>
            </a:extLst>
          </p:cNvPr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Auto-DanGGA Work Flow</a:t>
            </a:r>
            <a:endParaRPr lang="en-US" sz="5250" dirty="0"/>
          </a:p>
        </p:txBody>
      </p:sp>
    </p:spTree>
    <p:extLst>
      <p:ext uri="{BB962C8B-B14F-4D97-AF65-F5344CB8AC3E}">
        <p14:creationId xmlns:p14="http://schemas.microsoft.com/office/powerpoint/2010/main" val="12201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시작하기 전 준비사항</a:t>
            </a:r>
            <a:endParaRPr lang="en-US" sz="5250" dirty="0"/>
          </a:p>
        </p:txBody>
      </p:sp>
      <p:sp>
        <p:nvSpPr>
          <p:cNvPr id="3" name="Text 1"/>
          <p:cNvSpPr/>
          <p:nvPr/>
        </p:nvSpPr>
        <p:spPr>
          <a:xfrm>
            <a:off x="939522" y="1979773"/>
            <a:ext cx="5368885" cy="671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1. 폴더 구조 설정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39522" y="3355422"/>
            <a:ext cx="6048137" cy="4268871"/>
          </a:xfrm>
          <a:prstGeom prst="roundRect">
            <a:avLst>
              <a:gd name="adj" fmla="val 2641"/>
            </a:avLst>
          </a:prstGeom>
          <a:solidFill>
            <a:srgbClr val="F2F0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26187" y="3355422"/>
            <a:ext cx="6074807" cy="4268871"/>
          </a:xfrm>
          <a:prstGeom prst="roundRect">
            <a:avLst>
              <a:gd name="adj" fmla="val 943"/>
            </a:avLst>
          </a:prstGeom>
          <a:solidFill>
            <a:srgbClr val="F2F0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94554" y="3556757"/>
            <a:ext cx="5538073" cy="3866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50"/>
              </a:lnSpc>
            </a:pPr>
            <a:r>
              <a:rPr lang="ko-KR" altLang="en-US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프로젝트 폴더</a:t>
            </a:r>
            <a:r>
              <a:rPr lang="en-US" altLang="ko-KR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/</a:t>
            </a:r>
          </a:p>
          <a:p>
            <a:pPr>
              <a:lnSpc>
                <a:spcPts val="3350"/>
              </a:lnSpc>
            </a:pPr>
            <a:r>
              <a:rPr lang="en-US" altLang="ko-KR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├── </a:t>
            </a:r>
            <a:r>
              <a:rPr lang="ko-KR" altLang="en-US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작업파일</a:t>
            </a:r>
            <a:r>
              <a:rPr lang="en-US" altLang="ko-KR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/</a:t>
            </a:r>
          </a:p>
          <a:p>
            <a:pPr>
              <a:lnSpc>
                <a:spcPts val="3350"/>
              </a:lnSpc>
            </a:pPr>
            <a:r>
              <a:rPr lang="en-US" altLang="ko-KR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│       └── template.ai (</a:t>
            </a:r>
            <a:r>
              <a:rPr lang="ko-KR" altLang="en-US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일러스트레이터 파일</a:t>
            </a:r>
            <a:r>
              <a:rPr lang="en-US" altLang="ko-KR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)</a:t>
            </a:r>
          </a:p>
          <a:p>
            <a:pPr>
              <a:lnSpc>
                <a:spcPts val="3350"/>
              </a:lnSpc>
            </a:pPr>
            <a:r>
              <a:rPr lang="en-US" altLang="ko-KR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├── img/</a:t>
            </a:r>
          </a:p>
          <a:p>
            <a:pPr>
              <a:lnSpc>
                <a:spcPts val="3350"/>
              </a:lnSpc>
            </a:pPr>
            <a:r>
              <a:rPr lang="en-US" altLang="ko-KR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│       ├── 1-1.jpg (</a:t>
            </a:r>
            <a:r>
              <a:rPr lang="ko-KR" altLang="en-US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페이지번호</a:t>
            </a:r>
            <a:r>
              <a:rPr lang="en-US" altLang="ko-KR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-</a:t>
            </a:r>
            <a:r>
              <a:rPr lang="ko-KR" altLang="en-US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순서</a:t>
            </a:r>
            <a:r>
              <a:rPr lang="en-US" altLang="ko-KR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.</a:t>
            </a:r>
            <a:r>
              <a:rPr lang="ko-KR" altLang="en-US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확장자</a:t>
            </a:r>
            <a:r>
              <a:rPr lang="en-US" altLang="ko-KR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)</a:t>
            </a:r>
          </a:p>
          <a:p>
            <a:pPr>
              <a:lnSpc>
                <a:spcPts val="3350"/>
              </a:lnSpc>
            </a:pPr>
            <a:r>
              <a:rPr lang="en-US" altLang="ko-KR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│       ├── 1-1-min.jpg (</a:t>
            </a:r>
            <a:r>
              <a:rPr lang="ko-KR" altLang="en-US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미니 이미지</a:t>
            </a:r>
            <a:r>
              <a:rPr lang="en-US" altLang="ko-KR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)</a:t>
            </a:r>
          </a:p>
          <a:p>
            <a:pPr>
              <a:lnSpc>
                <a:spcPts val="3350"/>
              </a:lnSpc>
            </a:pPr>
            <a:r>
              <a:rPr lang="en-US" altLang="ko-KR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│       ├── 1-2.png</a:t>
            </a:r>
          </a:p>
          <a:p>
            <a:pPr>
              <a:lnSpc>
                <a:spcPts val="3350"/>
              </a:lnSpc>
            </a:pPr>
            <a:r>
              <a:rPr lang="en-US" altLang="ko-KR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│       └── ...</a:t>
            </a:r>
          </a:p>
          <a:p>
            <a:pPr>
              <a:lnSpc>
                <a:spcPts val="3350"/>
              </a:lnSpc>
            </a:pPr>
            <a:r>
              <a:rPr lang="en-US" altLang="ko-KR" sz="2100">
                <a:solidFill>
                  <a:srgbClr val="454240"/>
                </a:solidFill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└── data.csv</a:t>
            </a:r>
            <a:endParaRPr lang="en-US" altLang="ko-KR" sz="2100" dirty="0">
              <a:solidFill>
                <a:srgbClr val="454240"/>
              </a:solidFill>
              <a:latin typeface="Pretendard Variable Medium" panose="00000500000000000000" pitchFamily="2" charset="-127"/>
              <a:ea typeface="Pretendard Variable Medium" panose="00000500000000000000" pitchFamily="2" charset="-127"/>
              <a:cs typeface="Consolas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39522" y="8122934"/>
            <a:ext cx="12482870" cy="2122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350"/>
              </a:lnSpc>
              <a:buFontTx/>
              <a:buChar char="-"/>
            </a:pP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올바른 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폴더 구조는 스크립트의 정상 작동을 위한 필수 조건입니다</a:t>
            </a: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 </a:t>
            </a:r>
          </a:p>
          <a:p>
            <a:pPr marL="342900" indent="-342900" algn="l">
              <a:lnSpc>
                <a:spcPts val="3350"/>
              </a:lnSpc>
              <a:buFontTx/>
              <a:buChar char="-"/>
            </a:pPr>
            <a:r>
              <a:rPr lang="ko-KR" alt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일러스트 파일과 이미지 파일에 위치는 설명한 폴더구조와 동일하게 각 폴더에 위치해야합니다</a:t>
            </a:r>
            <a:r>
              <a:rPr lang="en-US" altLang="ko-KR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</a:p>
          <a:p>
            <a:pPr marL="342900" indent="-342900" algn="l">
              <a:lnSpc>
                <a:spcPts val="3350"/>
              </a:lnSpc>
              <a:buFontTx/>
              <a:buChar char="-"/>
            </a:pPr>
            <a:r>
              <a:rPr lang="ko-KR" alt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프로젝트 폴더는 어떤위치에 있어도 무방합니다</a:t>
            </a:r>
            <a:r>
              <a:rPr lang="en-US" altLang="ko-KR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</a:p>
          <a:p>
            <a:pPr marL="342900" indent="-342900" algn="l">
              <a:lnSpc>
                <a:spcPts val="3350"/>
              </a:lnSpc>
              <a:buFontTx/>
              <a:buChar char="-"/>
            </a:pPr>
            <a:r>
              <a:rPr lang="ko-KR" alt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일러스트 파일은 </a:t>
            </a:r>
            <a:r>
              <a:rPr lang="en-US" altLang="ko-KR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pdf </a:t>
            </a:r>
            <a:r>
              <a:rPr lang="ko-KR" alt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확장자를 사용해도 무방합니다</a:t>
            </a:r>
            <a:r>
              <a:rPr lang="en-US" altLang="ko-KR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en-US" sz="2100" dirty="0">
              <a:solidFill>
                <a:srgbClr val="45424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892772" y="5511641"/>
            <a:ext cx="6074807" cy="2122775"/>
          </a:xfrm>
          <a:prstGeom prst="roundRect">
            <a:avLst>
              <a:gd name="adj" fmla="val 7180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139" y="5916930"/>
            <a:ext cx="335518" cy="2683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65024" y="5847039"/>
            <a:ext cx="4657368" cy="2933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중요:</a:t>
            </a:r>
            <a:r>
              <a:rPr lang="en-US" sz="2100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폴더명과 파일명은 대소문자를 구분하므로 정확히 입력해야 합니다</a:t>
            </a:r>
            <a:r>
              <a:rPr lang="en-US" sz="210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 </a:t>
            </a:r>
            <a:br>
              <a:rPr lang="en-US" sz="210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r>
              <a:rPr lang="en-US" sz="210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특히 img </a:t>
            </a:r>
            <a:r>
              <a:rPr lang="ko-KR" altLang="en-US" sz="210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폴더명을 </a:t>
            </a:r>
            <a:r>
              <a:rPr lang="en-US" sz="210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확인하세요</a:t>
            </a:r>
            <a:r>
              <a:rPr lang="en-US" sz="2100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en-US" sz="21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C6232E4-DDFC-37EE-FFDA-8B5300E21E13}"/>
              </a:ext>
            </a:extLst>
          </p:cNvPr>
          <p:cNvSpPr/>
          <p:nvPr/>
        </p:nvSpPr>
        <p:spPr>
          <a:xfrm>
            <a:off x="964797" y="11795614"/>
            <a:ext cx="5767830" cy="3372527"/>
          </a:xfrm>
          <a:prstGeom prst="roundRect">
            <a:avLst>
              <a:gd name="adj" fmla="val 493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             </a:t>
            </a:r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06F894-C4CD-6C1E-84F7-89219DB10CD8}"/>
              </a:ext>
            </a:extLst>
          </p:cNvPr>
          <p:cNvSpPr txBox="1"/>
          <p:nvPr/>
        </p:nvSpPr>
        <p:spPr>
          <a:xfrm>
            <a:off x="5004810" y="12541524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메인 이미지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B840A5-26B2-8CCB-D540-66FAB3F14219}"/>
              </a:ext>
            </a:extLst>
          </p:cNvPr>
          <p:cNvSpPr txBox="1"/>
          <p:nvPr/>
        </p:nvSpPr>
        <p:spPr>
          <a:xfrm>
            <a:off x="5004810" y="13215104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미니 이미지</a:t>
            </a: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20E13353-60DA-BCCC-B53A-33BF122524AA}"/>
              </a:ext>
            </a:extLst>
          </p:cNvPr>
          <p:cNvSpPr/>
          <p:nvPr/>
        </p:nvSpPr>
        <p:spPr>
          <a:xfrm>
            <a:off x="965061" y="10685143"/>
            <a:ext cx="5368885" cy="671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2. </a:t>
            </a:r>
            <a:r>
              <a:rPr lang="ko-KR" altLang="en-US" sz="420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이미지 파일 명명 규칙</a:t>
            </a:r>
            <a:endParaRPr lang="en-US" sz="42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F01C433E-41E3-287E-1C69-D35EEF128F02}"/>
              </a:ext>
            </a:extLst>
          </p:cNvPr>
          <p:cNvSpPr/>
          <p:nvPr/>
        </p:nvSpPr>
        <p:spPr>
          <a:xfrm>
            <a:off x="7241919" y="12209290"/>
            <a:ext cx="9957078" cy="128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b="1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메인 이미지: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{페이지번호}-{순서}.{</a:t>
            </a: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확장자}</a:t>
            </a:r>
          </a:p>
          <a:p>
            <a:pPr marL="0" indent="0" algn="l">
              <a:lnSpc>
                <a:spcPts val="3350"/>
              </a:lnSpc>
              <a:buNone/>
            </a:pP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	       예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33-1.jpg, 31-2.png</a:t>
            </a:r>
            <a:endParaRPr lang="en-US" sz="21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A9B05D79-D76F-817D-1DDF-454E1258CF7B}"/>
              </a:ext>
            </a:extLst>
          </p:cNvPr>
          <p:cNvSpPr/>
          <p:nvPr/>
        </p:nvSpPr>
        <p:spPr>
          <a:xfrm>
            <a:off x="7241919" y="13469455"/>
            <a:ext cx="9537978" cy="128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b="1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미니 이미지: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{페이지번호}-{순서}-min.{</a:t>
            </a: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확장자}</a:t>
            </a:r>
          </a:p>
          <a:p>
            <a:pPr marL="0" indent="0" algn="l">
              <a:lnSpc>
                <a:spcPts val="3350"/>
              </a:lnSpc>
              <a:buNone/>
            </a:pP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	       예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33-1-min.jpg, 31-2-min.png</a:t>
            </a:r>
            <a:endParaRPr lang="en-US" sz="2100" dirty="0"/>
          </a:p>
        </p:txBody>
      </p:sp>
      <p:pic>
        <p:nvPicPr>
          <p:cNvPr id="16" name="그림 15" descr="텍스트, 음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564CE5-D0AC-973A-42EA-A40AF4797E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797" r="72327"/>
          <a:stretch>
            <a:fillRect/>
          </a:stretch>
        </p:blipFill>
        <p:spPr>
          <a:xfrm>
            <a:off x="964797" y="12209290"/>
            <a:ext cx="3316053" cy="2618807"/>
          </a:xfrm>
          <a:prstGeom prst="rect">
            <a:avLst/>
          </a:prstGeom>
        </p:spPr>
      </p:pic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59E5CD71-474C-90E8-0196-374D95DDCB38}"/>
              </a:ext>
            </a:extLst>
          </p:cNvPr>
          <p:cNvCxnSpPr>
            <a:cxnSpLocks/>
          </p:cNvCxnSpPr>
          <p:nvPr/>
        </p:nvCxnSpPr>
        <p:spPr>
          <a:xfrm flipV="1">
            <a:off x="3925866" y="12720588"/>
            <a:ext cx="1171200" cy="363760"/>
          </a:xfrm>
          <a:prstGeom prst="bentConnector3">
            <a:avLst>
              <a:gd name="adj1" fmla="val 50000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B15DC503-CA83-DA8E-0326-B3EA7FE086DF}"/>
              </a:ext>
            </a:extLst>
          </p:cNvPr>
          <p:cNvCxnSpPr>
            <a:cxnSpLocks/>
          </p:cNvCxnSpPr>
          <p:nvPr/>
        </p:nvCxnSpPr>
        <p:spPr>
          <a:xfrm flipV="1">
            <a:off x="4040226" y="13436634"/>
            <a:ext cx="964583" cy="743381"/>
          </a:xfrm>
          <a:prstGeom prst="bentConnector3">
            <a:avLst>
              <a:gd name="adj1" fmla="val 50000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그림 24">
            <a:extLst>
              <a:ext uri="{FF2B5EF4-FFF2-40B4-BE49-F238E27FC236}">
                <a16:creationId xmlns:a16="http://schemas.microsoft.com/office/drawing/2014/main" id="{3E60E6EC-EE99-F7BA-27ED-95323108A3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6210" y="15926038"/>
            <a:ext cx="8763000" cy="3914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05D4765-9FFC-4161-250C-17D5B2806107}"/>
              </a:ext>
            </a:extLst>
          </p:cNvPr>
          <p:cNvSpPr/>
          <p:nvPr/>
        </p:nvSpPr>
        <p:spPr>
          <a:xfrm>
            <a:off x="939582" y="4615773"/>
            <a:ext cx="9233118" cy="4653280"/>
          </a:xfrm>
          <a:prstGeom prst="roundRect">
            <a:avLst>
              <a:gd name="adj" fmla="val 493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             </a:t>
            </a:r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939522" y="738188"/>
            <a:ext cx="7793474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일러스트레이터 템플릿 준비</a:t>
            </a:r>
            <a:endParaRPr lang="en-US" sz="5250" dirty="0"/>
          </a:p>
        </p:txBody>
      </p:sp>
      <p:sp>
        <p:nvSpPr>
          <p:cNvPr id="3" name="Text 1"/>
          <p:cNvSpPr/>
          <p:nvPr/>
        </p:nvSpPr>
        <p:spPr>
          <a:xfrm>
            <a:off x="939522" y="2113957"/>
            <a:ext cx="268367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Variable Light" panose="00000500000000000000" pitchFamily="2" charset="-127"/>
                <a:ea typeface="Pretendard Variable Light" panose="00000500000000000000" pitchFamily="2" charset="-127"/>
                <a:cs typeface="Libre Baskerville Light" pitchFamily="34" charset="-120"/>
              </a:rPr>
              <a:t>01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9522" y="2734749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필수 레이어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39522" y="3315060"/>
            <a:ext cx="4071461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레이어명: </a:t>
            </a:r>
            <a:r>
              <a:rPr lang="en-US" sz="2100" b="1" dirty="0">
                <a:solidFill>
                  <a:srgbClr val="B88E2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auto_layer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39522" y="2553659"/>
            <a:ext cx="12751236" cy="45719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39522" y="3815953"/>
            <a:ext cx="11925578" cy="128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ko-KR" altLang="en-US" sz="2100">
                <a:solidFill>
                  <a:srgbClr val="45424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다른 구성요소의 오동작 방지를 위해 자동화가 필요한 데이터는 </a:t>
            </a:r>
            <a:r>
              <a:rPr lang="en-US" altLang="ko-KR" sz="2100">
                <a:solidFill>
                  <a:srgbClr val="45424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auto_layer </a:t>
            </a:r>
            <a:r>
              <a:rPr lang="ko-KR" altLang="en-US" sz="2100">
                <a:solidFill>
                  <a:srgbClr val="45424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하위에 위치합니다</a:t>
            </a:r>
            <a:r>
              <a:rPr lang="en-US" altLang="ko-KR" sz="2100">
                <a:solidFill>
                  <a:srgbClr val="45424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sz="2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7FFAF49-0F07-25B1-8795-C95283136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351" y="4961213"/>
            <a:ext cx="4200525" cy="3962400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7494039D-B4B5-7E9D-200E-158B98494D49}"/>
              </a:ext>
            </a:extLst>
          </p:cNvPr>
          <p:cNvSpPr/>
          <p:nvPr/>
        </p:nvSpPr>
        <p:spPr>
          <a:xfrm>
            <a:off x="1847929" y="5765800"/>
            <a:ext cx="3276600" cy="1016000"/>
          </a:xfrm>
          <a:prstGeom prst="rect">
            <a:avLst/>
          </a:prstGeom>
          <a:noFill/>
          <a:ln w="76200">
            <a:solidFill>
              <a:srgbClr val="FBE9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D03B132B-213E-11D4-5C6A-44C74D5491FF}"/>
              </a:ext>
            </a:extLst>
          </p:cNvPr>
          <p:cNvCxnSpPr/>
          <p:nvPr/>
        </p:nvCxnSpPr>
        <p:spPr>
          <a:xfrm flipV="1">
            <a:off x="3452613" y="5104687"/>
            <a:ext cx="4002287" cy="826213"/>
          </a:xfrm>
          <a:prstGeom prst="bentConnector3">
            <a:avLst>
              <a:gd name="adj1" fmla="val 70626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EDA003A0-17F1-D882-1A62-A016F29E7C33}"/>
              </a:ext>
            </a:extLst>
          </p:cNvPr>
          <p:cNvCxnSpPr>
            <a:cxnSpLocks/>
          </p:cNvCxnSpPr>
          <p:nvPr/>
        </p:nvCxnSpPr>
        <p:spPr>
          <a:xfrm flipV="1">
            <a:off x="3827341" y="5761033"/>
            <a:ext cx="3704947" cy="692194"/>
          </a:xfrm>
          <a:prstGeom prst="bentConnector3">
            <a:avLst>
              <a:gd name="adj1" fmla="val 74338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A661D17-7A5F-76D5-2664-9C9DD24E1133}"/>
              </a:ext>
            </a:extLst>
          </p:cNvPr>
          <p:cNvSpPr txBox="1"/>
          <p:nvPr/>
        </p:nvSpPr>
        <p:spPr>
          <a:xfrm>
            <a:off x="7564869" y="4920021"/>
            <a:ext cx="138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최상위 </a:t>
            </a:r>
            <a:r>
              <a:rPr lang="en-US" altLang="ko-KR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layer</a:t>
            </a:r>
            <a:endParaRPr lang="ko-KR" altLang="en-US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4EA953-AE30-E0DA-291F-FC1476CD5045}"/>
              </a:ext>
            </a:extLst>
          </p:cNvPr>
          <p:cNvSpPr txBox="1"/>
          <p:nvPr/>
        </p:nvSpPr>
        <p:spPr>
          <a:xfrm>
            <a:off x="7564869" y="5593601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상품별 단위 템플릿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B41484-EEA2-DC6F-8E73-10747CE9F086}"/>
              </a:ext>
            </a:extLst>
          </p:cNvPr>
          <p:cNvSpPr txBox="1"/>
          <p:nvPr/>
        </p:nvSpPr>
        <p:spPr>
          <a:xfrm>
            <a:off x="5723307" y="7676474"/>
            <a:ext cx="2534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기타 요소들의 구성은 무방</a:t>
            </a:r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8AC2A33C-178B-60CF-AA7A-0EDED95C13F4}"/>
              </a:ext>
            </a:extLst>
          </p:cNvPr>
          <p:cNvSpPr/>
          <p:nvPr/>
        </p:nvSpPr>
        <p:spPr>
          <a:xfrm>
            <a:off x="939522" y="10433886"/>
            <a:ext cx="268367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>
                <a:solidFill>
                  <a:srgbClr val="454240"/>
                </a:solidFill>
                <a:latin typeface="Pretendard Variable Light" panose="00000500000000000000" pitchFamily="2" charset="-127"/>
                <a:ea typeface="Pretendard Variable Light" panose="00000500000000000000" pitchFamily="2" charset="-127"/>
                <a:cs typeface="Libre Baskerville Light" pitchFamily="34" charset="-120"/>
              </a:rPr>
              <a:t>0</a:t>
            </a:r>
            <a:r>
              <a:rPr lang="en-US" altLang="ko-KR" sz="2100">
                <a:solidFill>
                  <a:srgbClr val="454240"/>
                </a:solidFill>
                <a:latin typeface="Pretendard Variable Light" panose="00000500000000000000" pitchFamily="2" charset="-127"/>
                <a:ea typeface="Pretendard Variable Light" panose="00000500000000000000" pitchFamily="2" charset="-127"/>
                <a:cs typeface="Libre Baskerville Light" pitchFamily="34" charset="-120"/>
              </a:rPr>
              <a:t>2</a:t>
            </a:r>
            <a:endParaRPr lang="en-US" sz="2100" dirty="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4756C8BA-06FE-28D6-7C61-BA924739A0E0}"/>
              </a:ext>
            </a:extLst>
          </p:cNvPr>
          <p:cNvSpPr/>
          <p:nvPr/>
        </p:nvSpPr>
        <p:spPr>
          <a:xfrm>
            <a:off x="939522" y="10873588"/>
            <a:ext cx="12751236" cy="45719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D8395D63-5AFA-A30B-A6F7-7A09E184425F}"/>
              </a:ext>
            </a:extLst>
          </p:cNvPr>
          <p:cNvSpPr/>
          <p:nvPr/>
        </p:nvSpPr>
        <p:spPr>
          <a:xfrm>
            <a:off x="939522" y="11076657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상품 그룹 구조</a:t>
            </a:r>
            <a:endParaRPr lang="en-US" sz="2600" dirty="0"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7FCA1C6A-0C2C-186F-EE2D-F0994BFFA088}"/>
              </a:ext>
            </a:extLst>
          </p:cNvPr>
          <p:cNvSpPr/>
          <p:nvPr/>
        </p:nvSpPr>
        <p:spPr>
          <a:xfrm>
            <a:off x="939522" y="11656968"/>
            <a:ext cx="8509196" cy="85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그룹명: Product-1, Product-2, Product-3</a:t>
            </a: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Product-4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9BD3F772-23BA-7BD0-C8F6-DCC89D84B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22" y="12928760"/>
            <a:ext cx="9658350" cy="25527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1F262EF0-6B95-E510-4D92-EF89DA2775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8989"/>
          <a:stretch>
            <a:fillRect/>
          </a:stretch>
        </p:blipFill>
        <p:spPr>
          <a:xfrm>
            <a:off x="1027852" y="16366099"/>
            <a:ext cx="4067175" cy="3576076"/>
          </a:xfrm>
          <a:prstGeom prst="rect">
            <a:avLst/>
          </a:prstGeom>
        </p:spPr>
      </p:pic>
      <p:sp>
        <p:nvSpPr>
          <p:cNvPr id="53" name="Text 16">
            <a:extLst>
              <a:ext uri="{FF2B5EF4-FFF2-40B4-BE49-F238E27FC236}">
                <a16:creationId xmlns:a16="http://schemas.microsoft.com/office/drawing/2014/main" id="{2EDF8BCC-6CC8-4816-4D67-F02C04449C0F}"/>
              </a:ext>
            </a:extLst>
          </p:cNvPr>
          <p:cNvSpPr/>
          <p:nvPr/>
        </p:nvSpPr>
        <p:spPr>
          <a:xfrm>
            <a:off x="1027852" y="15531570"/>
            <a:ext cx="11925578" cy="128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ko-KR" altLang="en-US" sz="21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상품단위 별 그룹설정으로 단위 템플릿을 구성합니다</a:t>
            </a:r>
            <a:r>
              <a:rPr lang="en-US" altLang="ko-KR" sz="21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sz="2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7D59D6C-480A-1C41-0B0F-54DF8D5E0D55}"/>
              </a:ext>
            </a:extLst>
          </p:cNvPr>
          <p:cNvSpPr txBox="1"/>
          <p:nvPr/>
        </p:nvSpPr>
        <p:spPr>
          <a:xfrm>
            <a:off x="10476417" y="11656968"/>
            <a:ext cx="3214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*한 페이지 당 구성 상품 제한 없음</a:t>
            </a:r>
            <a:endParaRPr lang="en-US" altLang="ko-KR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ko-KR" altLang="en-US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70430B6A-41ED-4870-78AE-092FFF2F55FB}"/>
              </a:ext>
            </a:extLst>
          </p:cNvPr>
          <p:cNvSpPr/>
          <p:nvPr/>
        </p:nvSpPr>
        <p:spPr>
          <a:xfrm>
            <a:off x="5194120" y="16398028"/>
            <a:ext cx="11925578" cy="128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altLang="ko-KR" sz="21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auto_layer </a:t>
            </a:r>
            <a:r>
              <a:rPr lang="ko-KR" altLang="en-US" sz="21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하위 요소로 위치 시킵니다</a:t>
            </a:r>
            <a:r>
              <a:rPr lang="en-US" altLang="ko-KR" sz="21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sz="2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99092-41AB-8085-408B-F1CC38600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E0D40C-53B9-92FE-4160-BAF5DCCC20A8}"/>
              </a:ext>
            </a:extLst>
          </p:cNvPr>
          <p:cNvSpPr/>
          <p:nvPr/>
        </p:nvSpPr>
        <p:spPr>
          <a:xfrm>
            <a:off x="939522" y="738188"/>
            <a:ext cx="7793474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일러스트레이터 템플릿 준비</a:t>
            </a:r>
            <a:endParaRPr lang="en-US" sz="5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8B379E-4164-12CF-EDCC-A4148B9B5905}"/>
              </a:ext>
            </a:extLst>
          </p:cNvPr>
          <p:cNvSpPr/>
          <p:nvPr/>
        </p:nvSpPr>
        <p:spPr>
          <a:xfrm>
            <a:off x="939522" y="2113957"/>
            <a:ext cx="268367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>
                <a:solidFill>
                  <a:srgbClr val="454240"/>
                </a:solidFill>
                <a:latin typeface="Pretendard Variable Light" panose="00000500000000000000" pitchFamily="2" charset="-127"/>
                <a:ea typeface="Pretendard Variable Light" panose="00000500000000000000" pitchFamily="2" charset="-127"/>
                <a:cs typeface="Libre Baskerville Light" pitchFamily="34" charset="-120"/>
              </a:rPr>
              <a:t>0</a:t>
            </a:r>
            <a:r>
              <a:rPr lang="en-US" altLang="ko-KR" sz="2100">
                <a:solidFill>
                  <a:srgbClr val="454240"/>
                </a:solidFill>
                <a:latin typeface="Pretendard Variable Light" panose="00000500000000000000" pitchFamily="2" charset="-127"/>
                <a:ea typeface="Pretendard Variable Light" panose="00000500000000000000" pitchFamily="2" charset="-127"/>
                <a:cs typeface="Libre Baskerville Light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93CAD1D-31AD-6853-7C26-A1148E28BC0E}"/>
              </a:ext>
            </a:extLst>
          </p:cNvPr>
          <p:cNvSpPr/>
          <p:nvPr/>
        </p:nvSpPr>
        <p:spPr>
          <a:xfrm>
            <a:off x="939522" y="2553659"/>
            <a:ext cx="12751236" cy="45719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860945CB-F620-18E8-2C60-B8A4D8C34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965" y="3989111"/>
            <a:ext cx="9658350" cy="2552700"/>
          </a:xfrm>
          <a:prstGeom prst="rect">
            <a:avLst/>
          </a:prstGeom>
        </p:spPr>
      </p:pic>
      <p:sp>
        <p:nvSpPr>
          <p:cNvPr id="4" name="Text 11">
            <a:extLst>
              <a:ext uri="{FF2B5EF4-FFF2-40B4-BE49-F238E27FC236}">
                <a16:creationId xmlns:a16="http://schemas.microsoft.com/office/drawing/2014/main" id="{2658DE41-CB98-EBA2-AE9D-B88C92C4E8F6}"/>
              </a:ext>
            </a:extLst>
          </p:cNvPr>
          <p:cNvSpPr/>
          <p:nvPr/>
        </p:nvSpPr>
        <p:spPr>
          <a:xfrm>
            <a:off x="939522" y="2734749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텍스트프레임 이름</a:t>
            </a:r>
            <a:endParaRPr lang="en-US" sz="2600" dirty="0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16320CF7-85B3-36BD-127C-7D98D095BB6F}"/>
              </a:ext>
            </a:extLst>
          </p:cNvPr>
          <p:cNvSpPr/>
          <p:nvPr/>
        </p:nvSpPr>
        <p:spPr>
          <a:xfrm>
            <a:off x="939522" y="3315060"/>
            <a:ext cx="11538228" cy="1718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상품명, 용량, 원재료, 보관방법</a:t>
            </a: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설명란</a:t>
            </a:r>
            <a:r>
              <a:rPr lang="en-US" altLang="ko-KR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서브단가명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서브단가, 메인단가명, 메인단가, 개당단가, 알러지</a:t>
            </a:r>
            <a:endParaRPr lang="en-US" sz="21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1E9F610-89F1-66D9-A701-4653D45B306F}"/>
              </a:ext>
            </a:extLst>
          </p:cNvPr>
          <p:cNvSpPr/>
          <p:nvPr/>
        </p:nvSpPr>
        <p:spPr>
          <a:xfrm>
            <a:off x="936944" y="7261581"/>
            <a:ext cx="12756512" cy="3914381"/>
          </a:xfrm>
          <a:prstGeom prst="roundRect">
            <a:avLst>
              <a:gd name="adj" fmla="val 493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             </a:t>
            </a:r>
            <a:endParaRPr lang="ko-KR" altLang="en-US"/>
          </a:p>
        </p:txBody>
      </p:sp>
      <p:pic>
        <p:nvPicPr>
          <p:cNvPr id="14" name="그림 13" descr="텍스트, 음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509A05-D6BD-55D8-47D2-D90DCCA7A4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925" r="24226"/>
          <a:stretch>
            <a:fillRect/>
          </a:stretch>
        </p:blipFill>
        <p:spPr>
          <a:xfrm>
            <a:off x="5672159" y="7959649"/>
            <a:ext cx="5041900" cy="2618807"/>
          </a:xfrm>
          <a:prstGeom prst="rect">
            <a:avLst/>
          </a:prstGeom>
        </p:spPr>
      </p:pic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B9459F11-C1D5-FA94-9277-2B54C270FEF7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10027995" y="7718771"/>
            <a:ext cx="2315232" cy="361351"/>
          </a:xfrm>
          <a:prstGeom prst="bentConnector3">
            <a:avLst>
              <a:gd name="adj1" fmla="val 68101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FEF5683-152E-BC00-3745-AC4FF7EDA952}"/>
              </a:ext>
            </a:extLst>
          </p:cNvPr>
          <p:cNvSpPr txBox="1"/>
          <p:nvPr/>
        </p:nvSpPr>
        <p:spPr>
          <a:xfrm>
            <a:off x="12343227" y="7534105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타이틀</a:t>
            </a: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C050DFF7-97E7-FBA2-5B7C-D9592CF310B0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9130542" y="8450853"/>
            <a:ext cx="3212685" cy="29871"/>
          </a:xfrm>
          <a:prstGeom prst="bentConnector3">
            <a:avLst>
              <a:gd name="adj1" fmla="val 77276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055CAB2-8ED5-520C-2F70-54D7FF6F2F20}"/>
              </a:ext>
            </a:extLst>
          </p:cNvPr>
          <p:cNvSpPr txBox="1"/>
          <p:nvPr/>
        </p:nvSpPr>
        <p:spPr>
          <a:xfrm>
            <a:off x="12343227" y="8266187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상품명</a:t>
            </a: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971A5838-616E-B6A7-B080-9CF5BA7A9E7A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7547025" y="8827025"/>
            <a:ext cx="4796202" cy="355910"/>
          </a:xfrm>
          <a:prstGeom prst="bentConnector3">
            <a:avLst>
              <a:gd name="adj1" fmla="val 85217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AC3453D-CBDE-22E7-B2ED-55627028EC0D}"/>
              </a:ext>
            </a:extLst>
          </p:cNvPr>
          <p:cNvSpPr txBox="1"/>
          <p:nvPr/>
        </p:nvSpPr>
        <p:spPr>
          <a:xfrm>
            <a:off x="12343227" y="899826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용량</a:t>
            </a: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EA1D2C3D-A041-C397-6419-6CBC8D2F18BA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10643241" y="9335643"/>
            <a:ext cx="1699986" cy="579374"/>
          </a:xfrm>
          <a:prstGeom prst="bentConnector3">
            <a:avLst>
              <a:gd name="adj1" fmla="val 47012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B940E23-75D6-2A0C-6A14-79551035F373}"/>
              </a:ext>
            </a:extLst>
          </p:cNvPr>
          <p:cNvSpPr txBox="1"/>
          <p:nvPr/>
        </p:nvSpPr>
        <p:spPr>
          <a:xfrm>
            <a:off x="12343227" y="9730351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원재료</a:t>
            </a:r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BCF46220-338C-34E1-7C4E-B58CB8E29AB5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10338441" y="10281978"/>
            <a:ext cx="2004786" cy="365120"/>
          </a:xfrm>
          <a:prstGeom prst="bentConnector3">
            <a:avLst>
              <a:gd name="adj1" fmla="val 55701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7F28D5F-559C-FE28-DB78-072A41813873}"/>
              </a:ext>
            </a:extLst>
          </p:cNvPr>
          <p:cNvSpPr txBox="1"/>
          <p:nvPr/>
        </p:nvSpPr>
        <p:spPr>
          <a:xfrm>
            <a:off x="12343227" y="10462432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설명란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F23B21F4-A2C7-CAF8-D87E-928C106DB1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8103" y="7959649"/>
            <a:ext cx="4223625" cy="2618807"/>
          </a:xfrm>
          <a:prstGeom prst="rect">
            <a:avLst/>
          </a:prstGeom>
        </p:spPr>
      </p:pic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2D71406E-F236-7151-EA8D-23CFB83D505E}"/>
              </a:ext>
            </a:extLst>
          </p:cNvPr>
          <p:cNvSpPr/>
          <p:nvPr/>
        </p:nvSpPr>
        <p:spPr>
          <a:xfrm>
            <a:off x="939522" y="11874030"/>
            <a:ext cx="12756512" cy="5339913"/>
          </a:xfrm>
          <a:prstGeom prst="roundRect">
            <a:avLst>
              <a:gd name="adj" fmla="val 493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             </a:t>
            </a:r>
            <a:endParaRPr lang="ko-KR" altLang="en-US"/>
          </a:p>
        </p:txBody>
      </p:sp>
      <p:pic>
        <p:nvPicPr>
          <p:cNvPr id="62" name="그림 61" descr="텍스트, 음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790024-10F7-A8D6-85BA-C1F557D640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146" t="-1372" r="1" b="1372"/>
          <a:stretch>
            <a:fillRect/>
          </a:stretch>
        </p:blipFill>
        <p:spPr>
          <a:xfrm>
            <a:off x="7731468" y="12572098"/>
            <a:ext cx="2513488" cy="2618807"/>
          </a:xfrm>
          <a:prstGeom prst="rect">
            <a:avLst/>
          </a:prstGeom>
        </p:spPr>
      </p:pic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30E3507A-F415-A534-38B9-AF70CFF22124}"/>
              </a:ext>
            </a:extLst>
          </p:cNvPr>
          <p:cNvCxnSpPr>
            <a:cxnSpLocks/>
            <a:endCxn id="64" idx="1"/>
          </p:cNvCxnSpPr>
          <p:nvPr/>
        </p:nvCxnSpPr>
        <p:spPr>
          <a:xfrm flipV="1">
            <a:off x="9486900" y="12572098"/>
            <a:ext cx="2266923" cy="324762"/>
          </a:xfrm>
          <a:prstGeom prst="bentConnector3">
            <a:avLst>
              <a:gd name="adj1" fmla="val 50000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5628A39-52EA-7F08-B0C3-2816253054F3}"/>
              </a:ext>
            </a:extLst>
          </p:cNvPr>
          <p:cNvSpPr txBox="1"/>
          <p:nvPr/>
        </p:nvSpPr>
        <p:spPr>
          <a:xfrm>
            <a:off x="11753823" y="12387432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보관방법</a:t>
            </a:r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A00C245D-D2B4-29CE-8AA2-6240050EF928}"/>
              </a:ext>
            </a:extLst>
          </p:cNvPr>
          <p:cNvCxnSpPr>
            <a:cxnSpLocks/>
            <a:endCxn id="66" idx="1"/>
          </p:cNvCxnSpPr>
          <p:nvPr/>
        </p:nvCxnSpPr>
        <p:spPr>
          <a:xfrm flipV="1">
            <a:off x="9671609" y="13304180"/>
            <a:ext cx="2082214" cy="73065"/>
          </a:xfrm>
          <a:prstGeom prst="bentConnector3">
            <a:avLst>
              <a:gd name="adj1" fmla="val 50000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46025A5-632D-92A5-8D7A-DC295F72348D}"/>
              </a:ext>
            </a:extLst>
          </p:cNvPr>
          <p:cNvSpPr txBox="1"/>
          <p:nvPr/>
        </p:nvSpPr>
        <p:spPr>
          <a:xfrm>
            <a:off x="11753823" y="13119514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서브단가</a:t>
            </a:r>
          </a:p>
        </p:txBody>
      </p: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965101DD-D19A-EEE9-8D1A-B2FC4BB649D6}"/>
              </a:ext>
            </a:extLst>
          </p:cNvPr>
          <p:cNvCxnSpPr>
            <a:cxnSpLocks/>
            <a:endCxn id="68" idx="1"/>
          </p:cNvCxnSpPr>
          <p:nvPr/>
        </p:nvCxnSpPr>
        <p:spPr>
          <a:xfrm>
            <a:off x="9945126" y="13896166"/>
            <a:ext cx="1808697" cy="140096"/>
          </a:xfrm>
          <a:prstGeom prst="bentConnector3">
            <a:avLst>
              <a:gd name="adj1" fmla="val 50000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36E45EA-91BE-B6AE-56A2-8EC13A216D0B}"/>
              </a:ext>
            </a:extLst>
          </p:cNvPr>
          <p:cNvSpPr txBox="1"/>
          <p:nvPr/>
        </p:nvSpPr>
        <p:spPr>
          <a:xfrm>
            <a:off x="11753823" y="13851596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메인단가</a:t>
            </a:r>
          </a:p>
        </p:txBody>
      </p: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9A80C211-3579-2786-A376-A7733082A2C0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9486900" y="14443582"/>
            <a:ext cx="2266923" cy="324762"/>
          </a:xfrm>
          <a:prstGeom prst="bentConnector3">
            <a:avLst>
              <a:gd name="adj1" fmla="val 50000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56F0EED8-F92E-D6D1-2B68-382B1029F8D7}"/>
              </a:ext>
            </a:extLst>
          </p:cNvPr>
          <p:cNvSpPr txBox="1"/>
          <p:nvPr/>
        </p:nvSpPr>
        <p:spPr>
          <a:xfrm>
            <a:off x="11753823" y="14583678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개당단가</a:t>
            </a:r>
          </a:p>
        </p:txBody>
      </p: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8523F174-2CD6-73DA-8FF3-CEB9725B41AC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9671609" y="14953010"/>
            <a:ext cx="2082214" cy="547415"/>
          </a:xfrm>
          <a:prstGeom prst="bentConnector3">
            <a:avLst>
              <a:gd name="adj1" fmla="val 50000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60AEC3B-96EF-F201-6341-F230B6F76304}"/>
              </a:ext>
            </a:extLst>
          </p:cNvPr>
          <p:cNvSpPr txBox="1"/>
          <p:nvPr/>
        </p:nvSpPr>
        <p:spPr>
          <a:xfrm>
            <a:off x="11753823" y="15315759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알러지</a:t>
            </a:r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E8338781-516B-D788-F0C4-EE4FA1F1E9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889" y="12146554"/>
            <a:ext cx="5067300" cy="4638675"/>
          </a:xfrm>
          <a:prstGeom prst="rect">
            <a:avLst/>
          </a:prstGeom>
        </p:spPr>
      </p:pic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92D1AAF3-3D29-E000-D692-527C95C11393}"/>
              </a:ext>
            </a:extLst>
          </p:cNvPr>
          <p:cNvCxnSpPr>
            <a:cxnSpLocks/>
          </p:cNvCxnSpPr>
          <p:nvPr/>
        </p:nvCxnSpPr>
        <p:spPr>
          <a:xfrm>
            <a:off x="7191375" y="13412907"/>
            <a:ext cx="771525" cy="0"/>
          </a:xfrm>
          <a:prstGeom prst="line">
            <a:avLst/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F1C85B54-6B27-FD87-271A-9F569EC3FA21}"/>
              </a:ext>
            </a:extLst>
          </p:cNvPr>
          <p:cNvCxnSpPr>
            <a:cxnSpLocks/>
          </p:cNvCxnSpPr>
          <p:nvPr/>
        </p:nvCxnSpPr>
        <p:spPr>
          <a:xfrm>
            <a:off x="7547025" y="13897873"/>
            <a:ext cx="415875" cy="0"/>
          </a:xfrm>
          <a:prstGeom prst="line">
            <a:avLst/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78CFF7C-E636-5C00-D32E-DA186572D223}"/>
              </a:ext>
            </a:extLst>
          </p:cNvPr>
          <p:cNvCxnSpPr>
            <a:cxnSpLocks/>
          </p:cNvCxnSpPr>
          <p:nvPr/>
        </p:nvCxnSpPr>
        <p:spPr>
          <a:xfrm>
            <a:off x="7200902" y="13410526"/>
            <a:ext cx="0" cy="2772449"/>
          </a:xfrm>
          <a:prstGeom prst="line">
            <a:avLst/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98369A04-40F4-E89C-467C-61ABACFAC9E3}"/>
              </a:ext>
            </a:extLst>
          </p:cNvPr>
          <p:cNvCxnSpPr>
            <a:cxnSpLocks/>
          </p:cNvCxnSpPr>
          <p:nvPr/>
        </p:nvCxnSpPr>
        <p:spPr>
          <a:xfrm>
            <a:off x="7555708" y="13897873"/>
            <a:ext cx="0" cy="1787218"/>
          </a:xfrm>
          <a:prstGeom prst="line">
            <a:avLst/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3999838-0B2A-6551-1531-2C30A4B621E5}"/>
              </a:ext>
            </a:extLst>
          </p:cNvPr>
          <p:cNvSpPr txBox="1"/>
          <p:nvPr/>
        </p:nvSpPr>
        <p:spPr>
          <a:xfrm>
            <a:off x="7391167" y="15653499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메인단가명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A015889-6260-8BDE-0705-2CA233C1EF25}"/>
              </a:ext>
            </a:extLst>
          </p:cNvPr>
          <p:cNvSpPr txBox="1"/>
          <p:nvPr/>
        </p:nvSpPr>
        <p:spPr>
          <a:xfrm>
            <a:off x="7014581" y="16182975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서브단가명</a:t>
            </a:r>
          </a:p>
        </p:txBody>
      </p:sp>
      <p:sp>
        <p:nvSpPr>
          <p:cNvPr id="108" name="Shape 6">
            <a:extLst>
              <a:ext uri="{FF2B5EF4-FFF2-40B4-BE49-F238E27FC236}">
                <a16:creationId xmlns:a16="http://schemas.microsoft.com/office/drawing/2014/main" id="{63880ECF-D969-CDE7-D7A4-1FAFD71E4722}"/>
              </a:ext>
            </a:extLst>
          </p:cNvPr>
          <p:cNvSpPr/>
          <p:nvPr/>
        </p:nvSpPr>
        <p:spPr>
          <a:xfrm>
            <a:off x="8553330" y="17925682"/>
            <a:ext cx="5137428" cy="1603074"/>
          </a:xfrm>
          <a:prstGeom prst="roundRect">
            <a:avLst>
              <a:gd name="adj" fmla="val 7180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9" name="Image 1" descr="preencoded.png">
            <a:extLst>
              <a:ext uri="{FF2B5EF4-FFF2-40B4-BE49-F238E27FC236}">
                <a16:creationId xmlns:a16="http://schemas.microsoft.com/office/drawing/2014/main" id="{B971EC8A-CA1B-F382-2FEB-04F6EB3383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1696" y="18330971"/>
            <a:ext cx="335518" cy="268367"/>
          </a:xfrm>
          <a:prstGeom prst="rect">
            <a:avLst/>
          </a:prstGeom>
        </p:spPr>
      </p:pic>
      <p:sp>
        <p:nvSpPr>
          <p:cNvPr id="110" name="Text 7">
            <a:extLst>
              <a:ext uri="{FF2B5EF4-FFF2-40B4-BE49-F238E27FC236}">
                <a16:creationId xmlns:a16="http://schemas.microsoft.com/office/drawing/2014/main" id="{6DB0418B-3BC7-FCCE-C5F6-340955FB0625}"/>
              </a:ext>
            </a:extLst>
          </p:cNvPr>
          <p:cNvSpPr/>
          <p:nvPr/>
        </p:nvSpPr>
        <p:spPr>
          <a:xfrm>
            <a:off x="9425581" y="18261081"/>
            <a:ext cx="3909298" cy="85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ko-KR" altLang="en-US" sz="2100" b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메인단가와 서브단가는 지역별 선호 단가에 따라 선택합니다</a:t>
            </a:r>
            <a:r>
              <a:rPr lang="en-US" altLang="ko-KR" sz="2100" b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en-US" sz="2100" dirty="0"/>
          </a:p>
        </p:txBody>
      </p:sp>
      <p:sp>
        <p:nvSpPr>
          <p:cNvPr id="111" name="Text 5">
            <a:extLst>
              <a:ext uri="{FF2B5EF4-FFF2-40B4-BE49-F238E27FC236}">
                <a16:creationId xmlns:a16="http://schemas.microsoft.com/office/drawing/2014/main" id="{9C59730C-87C3-D8FA-DF68-BBC17E29E586}"/>
              </a:ext>
            </a:extLst>
          </p:cNvPr>
          <p:cNvSpPr/>
          <p:nvPr/>
        </p:nvSpPr>
        <p:spPr>
          <a:xfrm>
            <a:off x="1405723" y="17710417"/>
            <a:ext cx="10087511" cy="186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ko-KR" altLang="en-US" sz="2100" b="1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보관방법 색상 자동 변경</a:t>
            </a:r>
            <a:br>
              <a:rPr lang="en-US" sz="2100" b="1">
                <a:solidFill>
                  <a:srgbClr val="0066C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r>
              <a:rPr lang="en-US" sz="2100" b="1">
                <a:solidFill>
                  <a:srgbClr val="0066C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냉동</a:t>
            </a:r>
            <a:r>
              <a:rPr lang="en-US" sz="2100" b="1" dirty="0">
                <a:solidFill>
                  <a:srgbClr val="0066C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C:100, M:40, Y:0, K</a:t>
            </a: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:0</a:t>
            </a:r>
          </a:p>
          <a:p>
            <a:pPr marL="0" indent="0" algn="l">
              <a:lnSpc>
                <a:spcPts val="3350"/>
              </a:lnSpc>
              <a:buNone/>
            </a:pPr>
            <a:r>
              <a:rPr lang="en-US" sz="2100" b="1">
                <a:solidFill>
                  <a:srgbClr val="00CC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냉장</a:t>
            </a:r>
            <a:r>
              <a:rPr lang="en-US" sz="2100" b="1" dirty="0">
                <a:solidFill>
                  <a:srgbClr val="00CC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C:100, M:0, Y:100, K</a:t>
            </a: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:0</a:t>
            </a:r>
          </a:p>
          <a:p>
            <a:pPr marL="0" indent="0" algn="l">
              <a:lnSpc>
                <a:spcPts val="3350"/>
              </a:lnSpc>
              <a:buNone/>
            </a:pPr>
            <a:r>
              <a:rPr lang="en-US" sz="2100" b="1">
                <a:solidFill>
                  <a:srgbClr val="6666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상온</a:t>
            </a:r>
            <a:r>
              <a:rPr lang="en-US" sz="2100" b="1" dirty="0">
                <a:solidFill>
                  <a:srgbClr val="6666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C:0, M:0, Y:20, K:80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770826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EED1E-5989-7044-0D57-7AF07E3E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25F451-53D2-8493-DED0-5B59BB8932C7}"/>
              </a:ext>
            </a:extLst>
          </p:cNvPr>
          <p:cNvSpPr/>
          <p:nvPr/>
        </p:nvSpPr>
        <p:spPr>
          <a:xfrm>
            <a:off x="939522" y="738188"/>
            <a:ext cx="7793474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일러스트레이터 템플릿 준비</a:t>
            </a:r>
            <a:endParaRPr lang="en-US" sz="5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C6865D-3A6C-FDCA-3591-A6806BF404A0}"/>
              </a:ext>
            </a:extLst>
          </p:cNvPr>
          <p:cNvSpPr/>
          <p:nvPr/>
        </p:nvSpPr>
        <p:spPr>
          <a:xfrm>
            <a:off x="939522" y="2113957"/>
            <a:ext cx="268367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>
                <a:solidFill>
                  <a:srgbClr val="454240"/>
                </a:solidFill>
                <a:latin typeface="Pretendard Variable Light" panose="00000500000000000000" pitchFamily="2" charset="-127"/>
                <a:ea typeface="Pretendard Variable Light" panose="00000500000000000000" pitchFamily="2" charset="-127"/>
                <a:cs typeface="Libre Baskerville Light" pitchFamily="34" charset="-120"/>
              </a:rPr>
              <a:t>0</a:t>
            </a:r>
            <a:r>
              <a:rPr lang="en-US" altLang="ko-KR" sz="2100">
                <a:solidFill>
                  <a:srgbClr val="454240"/>
                </a:solidFill>
                <a:latin typeface="Pretendard Variable Light" panose="00000500000000000000" pitchFamily="2" charset="-127"/>
                <a:ea typeface="Pretendard Variable Light" panose="00000500000000000000" pitchFamily="2" charset="-127"/>
                <a:cs typeface="Libre Baskerville Light" pitchFamily="34" charset="-120"/>
              </a:rPr>
              <a:t>4</a:t>
            </a:r>
            <a:endParaRPr lang="en-US" sz="2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19179B7-685E-B01D-DB4F-44A08C9A53F2}"/>
              </a:ext>
            </a:extLst>
          </p:cNvPr>
          <p:cNvSpPr/>
          <p:nvPr/>
        </p:nvSpPr>
        <p:spPr>
          <a:xfrm>
            <a:off x="939522" y="2553659"/>
            <a:ext cx="12751236" cy="45719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15">
            <a:extLst>
              <a:ext uri="{FF2B5EF4-FFF2-40B4-BE49-F238E27FC236}">
                <a16:creationId xmlns:a16="http://schemas.microsoft.com/office/drawing/2014/main" id="{ADCC27AD-8F1A-0791-E82C-D06DBC45E6DE}"/>
              </a:ext>
            </a:extLst>
          </p:cNvPr>
          <p:cNvSpPr/>
          <p:nvPr/>
        </p:nvSpPr>
        <p:spPr>
          <a:xfrm>
            <a:off x="939522" y="2776660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동적 요소 이름</a:t>
            </a:r>
            <a:endParaRPr lang="en-US" sz="2600" dirty="0"/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4DA08589-589B-E24E-7EDD-FAD7137094DA}"/>
              </a:ext>
            </a:extLst>
          </p:cNvPr>
          <p:cNvSpPr/>
          <p:nvPr/>
        </p:nvSpPr>
        <p:spPr>
          <a:xfrm>
            <a:off x="939522" y="3356971"/>
            <a:ext cx="11455678" cy="128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인증마크: HACCP, 유기가공식품, 전통식품 등상품태그: 자연해동, D-7발주, 개별포장특수항목: NEW</a:t>
            </a:r>
            <a:endParaRPr lang="en-US" sz="2100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D307805-F7BF-1D24-7EB1-5181BC63A7D2}"/>
              </a:ext>
            </a:extLst>
          </p:cNvPr>
          <p:cNvSpPr/>
          <p:nvPr/>
        </p:nvSpPr>
        <p:spPr>
          <a:xfrm>
            <a:off x="934246" y="4168746"/>
            <a:ext cx="12756512" cy="5521354"/>
          </a:xfrm>
          <a:prstGeom prst="roundRect">
            <a:avLst>
              <a:gd name="adj" fmla="val 493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              </a:t>
            </a:r>
            <a:endParaRPr lang="ko-KR" altLang="en-US"/>
          </a:p>
        </p:txBody>
      </p:sp>
      <p:pic>
        <p:nvPicPr>
          <p:cNvPr id="9" name="그림 8" descr="텍스트, 음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D84CCA-F45B-D67E-513D-64D4C6A6FC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797" r="72327"/>
          <a:stretch>
            <a:fillRect/>
          </a:stretch>
        </p:blipFill>
        <p:spPr>
          <a:xfrm>
            <a:off x="5344668" y="5236146"/>
            <a:ext cx="3316053" cy="2618807"/>
          </a:xfrm>
          <a:prstGeom prst="rect">
            <a:avLst/>
          </a:prstGeom>
        </p:spPr>
      </p:pic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0A396A42-6050-68CD-054C-BF44FBDDDB46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8660721" y="4995268"/>
            <a:ext cx="2001867" cy="521691"/>
          </a:xfrm>
          <a:prstGeom prst="bentConnector3">
            <a:avLst>
              <a:gd name="adj1" fmla="val 50000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AC69101-6954-9905-8B81-7E635D715D95}"/>
              </a:ext>
            </a:extLst>
          </p:cNvPr>
          <p:cNvSpPr txBox="1"/>
          <p:nvPr/>
        </p:nvSpPr>
        <p:spPr>
          <a:xfrm>
            <a:off x="10662588" y="4810602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인증마크</a:t>
            </a:r>
            <a:r>
              <a:rPr lang="en-US" altLang="ko-KR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]</a:t>
            </a:r>
            <a:endParaRPr lang="ko-KR" altLang="en-US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3F012A7C-D905-6C6C-E0AA-74EEDBA3CA9E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7762409" y="5727350"/>
            <a:ext cx="2900179" cy="542973"/>
          </a:xfrm>
          <a:prstGeom prst="bentConnector3">
            <a:avLst>
              <a:gd name="adj1" fmla="val 50000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98DDB51-2173-16E7-5014-1FEDA58BC5B1}"/>
              </a:ext>
            </a:extLst>
          </p:cNvPr>
          <p:cNvSpPr txBox="1"/>
          <p:nvPr/>
        </p:nvSpPr>
        <p:spPr>
          <a:xfrm>
            <a:off x="10662588" y="5542684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메인사진</a:t>
            </a:r>
            <a:r>
              <a:rPr lang="en-US" altLang="ko-KR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]</a:t>
            </a:r>
            <a:endParaRPr lang="ko-KR" altLang="en-US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AB52F101-4C6A-8BCF-6EBB-2FC6F918F42E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8615242" y="6459432"/>
            <a:ext cx="2047346" cy="867157"/>
          </a:xfrm>
          <a:prstGeom prst="bentConnector3">
            <a:avLst>
              <a:gd name="adj1" fmla="val 50000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6205BF8-6CBF-9421-0E81-07176B4DF13D}"/>
              </a:ext>
            </a:extLst>
          </p:cNvPr>
          <p:cNvSpPr txBox="1"/>
          <p:nvPr/>
        </p:nvSpPr>
        <p:spPr>
          <a:xfrm>
            <a:off x="10662588" y="6274766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Mini-img</a:t>
            </a:r>
            <a:endParaRPr lang="ko-KR" altLang="en-US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3B56F7-990F-7896-2A40-A94D36C54591}"/>
              </a:ext>
            </a:extLst>
          </p:cNvPr>
          <p:cNvSpPr txBox="1"/>
          <p:nvPr/>
        </p:nvSpPr>
        <p:spPr>
          <a:xfrm>
            <a:off x="5124378" y="8617919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자연해동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18A8FA-1D0A-CB6A-67DF-A0F81B1E96F5}"/>
              </a:ext>
            </a:extLst>
          </p:cNvPr>
          <p:cNvSpPr txBox="1"/>
          <p:nvPr/>
        </p:nvSpPr>
        <p:spPr>
          <a:xfrm>
            <a:off x="6465474" y="8617919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D-7</a:t>
            </a:r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발주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7D7113-2972-D15F-6CBD-41088B3A225D}"/>
              </a:ext>
            </a:extLst>
          </p:cNvPr>
          <p:cNvSpPr txBox="1"/>
          <p:nvPr/>
        </p:nvSpPr>
        <p:spPr>
          <a:xfrm>
            <a:off x="7633445" y="8617919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개별포장</a:t>
            </a: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0588EC10-E9A3-415B-F685-66BEA829C421}"/>
              </a:ext>
            </a:extLst>
          </p:cNvPr>
          <p:cNvCxnSpPr>
            <a:cxnSpLocks/>
            <a:endCxn id="37" idx="0"/>
          </p:cNvCxnSpPr>
          <p:nvPr/>
        </p:nvCxnSpPr>
        <p:spPr>
          <a:xfrm rot="5400000">
            <a:off x="5450052" y="7957760"/>
            <a:ext cx="824364" cy="495955"/>
          </a:xfrm>
          <a:prstGeom prst="bentConnector3">
            <a:avLst>
              <a:gd name="adj1" fmla="val 50000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F2079769-304B-4E4D-C3D4-25FD0AC54C66}"/>
              </a:ext>
            </a:extLst>
          </p:cNvPr>
          <p:cNvCxnSpPr>
            <a:cxnSpLocks/>
            <a:endCxn id="38" idx="0"/>
          </p:cNvCxnSpPr>
          <p:nvPr/>
        </p:nvCxnSpPr>
        <p:spPr>
          <a:xfrm rot="16200000" flipH="1">
            <a:off x="6475710" y="8139879"/>
            <a:ext cx="827189" cy="128890"/>
          </a:xfrm>
          <a:prstGeom prst="bentConnector3">
            <a:avLst>
              <a:gd name="adj1" fmla="val 50000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EB398EDD-D60E-240B-27FA-6EE492BDEFB9}"/>
              </a:ext>
            </a:extLst>
          </p:cNvPr>
          <p:cNvCxnSpPr>
            <a:cxnSpLocks/>
            <a:endCxn id="39" idx="0"/>
          </p:cNvCxnSpPr>
          <p:nvPr/>
        </p:nvCxnSpPr>
        <p:spPr>
          <a:xfrm rot="16200000" flipH="1">
            <a:off x="7464789" y="7959385"/>
            <a:ext cx="827190" cy="489878"/>
          </a:xfrm>
          <a:prstGeom prst="bentConnector3">
            <a:avLst>
              <a:gd name="adj1" fmla="val 50000"/>
            </a:avLst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399782C-CA94-0739-EB00-3305BBED4FB7}"/>
              </a:ext>
            </a:extLst>
          </p:cNvPr>
          <p:cNvSpPr txBox="1"/>
          <p:nvPr/>
        </p:nvSpPr>
        <p:spPr>
          <a:xfrm>
            <a:off x="3586212" y="5719498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NEW</a:t>
            </a:r>
            <a:endParaRPr lang="ko-KR" altLang="en-US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A6136AFA-86E1-2293-E9CB-969150EF4CCF}"/>
              </a:ext>
            </a:extLst>
          </p:cNvPr>
          <p:cNvCxnSpPr>
            <a:cxnSpLocks/>
            <a:endCxn id="60" idx="0"/>
          </p:cNvCxnSpPr>
          <p:nvPr/>
        </p:nvCxnSpPr>
        <p:spPr>
          <a:xfrm rot="10800000" flipV="1">
            <a:off x="3940636" y="5363732"/>
            <a:ext cx="1818814" cy="355765"/>
          </a:xfrm>
          <a:prstGeom prst="bentConnector2">
            <a:avLst/>
          </a:prstGeom>
          <a:ln w="19050">
            <a:solidFill>
              <a:srgbClr val="FCA0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D9DC58C-DF20-80F8-BD35-9311558CD7EE}"/>
              </a:ext>
            </a:extLst>
          </p:cNvPr>
          <p:cNvSpPr txBox="1"/>
          <p:nvPr/>
        </p:nvSpPr>
        <p:spPr>
          <a:xfrm>
            <a:off x="8750872" y="9066984"/>
            <a:ext cx="4416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*인증마크</a:t>
            </a:r>
            <a:r>
              <a:rPr lang="en-US" altLang="ko-KR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메인사진은 요소명칭 하단 별도 설명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7C63FE71-1859-1944-4804-56992FDE2D1D}"/>
              </a:ext>
            </a:extLst>
          </p:cNvPr>
          <p:cNvSpPr/>
          <p:nvPr/>
        </p:nvSpPr>
        <p:spPr>
          <a:xfrm>
            <a:off x="939522" y="10045866"/>
            <a:ext cx="12756512" cy="8337668"/>
          </a:xfrm>
          <a:prstGeom prst="roundRect">
            <a:avLst>
              <a:gd name="adj" fmla="val 493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              </a:t>
            </a:r>
            <a:endParaRPr lang="ko-KR" altLang="en-US"/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2368585C-D236-1B13-FF2C-47BA25A12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936" y="10642485"/>
            <a:ext cx="4486275" cy="7029450"/>
          </a:xfrm>
          <a:prstGeom prst="rect">
            <a:avLst/>
          </a:prstGeom>
        </p:spPr>
      </p:pic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303A90AB-C242-D37F-4572-B9CCB7596378}"/>
              </a:ext>
            </a:extLst>
          </p:cNvPr>
          <p:cNvGrpSpPr/>
          <p:nvPr/>
        </p:nvGrpSpPr>
        <p:grpSpPr>
          <a:xfrm>
            <a:off x="7889975" y="11143330"/>
            <a:ext cx="2645046" cy="4541765"/>
            <a:chOff x="6667360" y="11116789"/>
            <a:chExt cx="2645046" cy="4541765"/>
          </a:xfrm>
        </p:grpSpPr>
        <p:pic>
          <p:nvPicPr>
            <p:cNvPr id="95" name="그림 94" descr="텍스트, 폰트, 스크린샷, 메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DBD213F-C19D-9440-4B94-97AC3900C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67360" y="11116789"/>
              <a:ext cx="647839" cy="4541765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FE8A781-ADE2-36EB-6A10-3C71C541152A}"/>
                </a:ext>
              </a:extLst>
            </p:cNvPr>
            <p:cNvSpPr txBox="1"/>
            <p:nvPr/>
          </p:nvSpPr>
          <p:spPr>
            <a:xfrm>
              <a:off x="7736334" y="11259468"/>
              <a:ext cx="9829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HACCP</a:t>
              </a:r>
              <a:endPara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B24AA8AB-E734-99B0-60DC-0940D5C0958B}"/>
                </a:ext>
              </a:extLst>
            </p:cNvPr>
            <p:cNvSpPr txBox="1"/>
            <p:nvPr/>
          </p:nvSpPr>
          <p:spPr>
            <a:xfrm>
              <a:off x="7736334" y="11905937"/>
              <a:ext cx="13773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유기가공식품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5D572BC-0FF0-66E0-B9A3-0C426174FF05}"/>
                </a:ext>
              </a:extLst>
            </p:cNvPr>
            <p:cNvSpPr txBox="1"/>
            <p:nvPr/>
          </p:nvSpPr>
          <p:spPr>
            <a:xfrm>
              <a:off x="7736334" y="12552406"/>
              <a:ext cx="979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전통식품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C1BDBFE-3919-FE83-572E-D4E31B32BE9F}"/>
                </a:ext>
              </a:extLst>
            </p:cNvPr>
            <p:cNvSpPr txBox="1"/>
            <p:nvPr/>
          </p:nvSpPr>
          <p:spPr>
            <a:xfrm>
              <a:off x="7736334" y="13198874"/>
              <a:ext cx="979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품질인증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FE91E86-5A06-6B03-5F2A-BB2DED646D1D}"/>
                </a:ext>
              </a:extLst>
            </p:cNvPr>
            <p:cNvSpPr txBox="1"/>
            <p:nvPr/>
          </p:nvSpPr>
          <p:spPr>
            <a:xfrm>
              <a:off x="7736334" y="13845342"/>
              <a:ext cx="979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무항생제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99CE072-D1A9-D9DD-4045-D5290E47942D}"/>
                </a:ext>
              </a:extLst>
            </p:cNvPr>
            <p:cNvSpPr txBox="1"/>
            <p:nvPr/>
          </p:nvSpPr>
          <p:spPr>
            <a:xfrm>
              <a:off x="7736334" y="14491810"/>
              <a:ext cx="1576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무농약가공식품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BBEAF404-C1D8-9A14-F1CC-ACA566246162}"/>
                </a:ext>
              </a:extLst>
            </p:cNvPr>
            <p:cNvSpPr txBox="1"/>
            <p:nvPr/>
          </p:nvSpPr>
          <p:spPr>
            <a:xfrm>
              <a:off x="7736334" y="15138279"/>
              <a:ext cx="979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동물복지</a:t>
              </a:r>
              <a:endParaRPr lang="en-US" altLang="ko-KR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pic>
        <p:nvPicPr>
          <p:cNvPr id="113" name="그림 112" descr="음식, 만두, 자오즈, 요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57802F-83CD-4E7D-4105-346199476C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544" y="16071735"/>
            <a:ext cx="1803400" cy="1600200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C20CED89-7CBD-E1A9-84A3-90EB31934DEC}"/>
              </a:ext>
            </a:extLst>
          </p:cNvPr>
          <p:cNvSpPr txBox="1"/>
          <p:nvPr/>
        </p:nvSpPr>
        <p:spPr>
          <a:xfrm>
            <a:off x="8958949" y="16526986"/>
            <a:ext cx="3978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&lt;Clip Group-img&gt; : </a:t>
            </a:r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클리핑 마스크 그룹</a:t>
            </a:r>
            <a:endParaRPr lang="en-US" altLang="ko-KR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그룹 내 사진 위치</a:t>
            </a:r>
          </a:p>
        </p:txBody>
      </p:sp>
    </p:spTree>
    <p:extLst>
      <p:ext uri="{BB962C8B-B14F-4D97-AF65-F5344CB8AC3E}">
        <p14:creationId xmlns:p14="http://schemas.microsoft.com/office/powerpoint/2010/main" val="3345748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CSV </a:t>
            </a:r>
            <a:r>
              <a:rPr lang="en-US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파일 </a:t>
            </a:r>
            <a:r>
              <a:rPr lang="ko-KR" altLang="en-US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준비</a:t>
            </a:r>
            <a:endParaRPr lang="en-US" sz="5250" dirty="0"/>
          </a:p>
        </p:txBody>
      </p:sp>
      <p:sp>
        <p:nvSpPr>
          <p:cNvPr id="3" name="Text 1"/>
          <p:cNvSpPr/>
          <p:nvPr/>
        </p:nvSpPr>
        <p:spPr>
          <a:xfrm>
            <a:off x="939522" y="1979773"/>
            <a:ext cx="5368885" cy="671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헤더 </a:t>
            </a:r>
            <a:r>
              <a:rPr lang="en-US" sz="420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구조 (1번째 </a:t>
            </a:r>
            <a:r>
              <a:rPr lang="en-US" sz="420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행)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39522" y="3053480"/>
            <a:ext cx="12751237" cy="3864296"/>
          </a:xfrm>
          <a:prstGeom prst="roundRect">
            <a:avLst>
              <a:gd name="adj" fmla="val 2918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4762" y="3068720"/>
            <a:ext cx="12720757" cy="7667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23248" y="3237312"/>
            <a:ext cx="200358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페이지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771186" y="3237312"/>
            <a:ext cx="199977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순서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315313" y="3237312"/>
            <a:ext cx="199977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타이틀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859441" y="3237312"/>
            <a:ext cx="199977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상품명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03568" y="3237312"/>
            <a:ext cx="200358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용량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4762" y="3835483"/>
            <a:ext cx="12720757" cy="7667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23248" y="4004075"/>
            <a:ext cx="200358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원재료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771186" y="4004075"/>
            <a:ext cx="199977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설명란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315313" y="4004075"/>
            <a:ext cx="199977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서브단가명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859441" y="4004075"/>
            <a:ext cx="199977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서브단가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403568" y="4004075"/>
            <a:ext cx="200358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메인단가명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54762" y="4602246"/>
            <a:ext cx="12720757" cy="7667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23248" y="4770839"/>
            <a:ext cx="200358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메인단가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771186" y="4770839"/>
            <a:ext cx="199977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개당단가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315313" y="4770839"/>
            <a:ext cx="199977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알러지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859441" y="4770839"/>
            <a:ext cx="199977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보관방법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1403568" y="4770839"/>
            <a:ext cx="200358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HACCP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54762" y="5369009"/>
            <a:ext cx="12720757" cy="7667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223248" y="5537602"/>
            <a:ext cx="200358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유기가공식품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771186" y="5537602"/>
            <a:ext cx="199977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전통식품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315313" y="5537602"/>
            <a:ext cx="199977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품질인증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8859441" y="5537602"/>
            <a:ext cx="199977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무항생제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1403568" y="5537602"/>
            <a:ext cx="200358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무농약가공식품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54762" y="6135772"/>
            <a:ext cx="12720757" cy="7667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223248" y="6304365"/>
            <a:ext cx="200358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동물복지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3771186" y="6304365"/>
            <a:ext cx="199977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자연해동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6315313" y="6304365"/>
            <a:ext cx="199977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D-7발주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8859441" y="6304365"/>
            <a:ext cx="199977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개별포장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1403568" y="6304365"/>
            <a:ext cx="2003584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NEW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39522" y="7320445"/>
            <a:ext cx="6087189" cy="671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데이터 </a:t>
            </a:r>
            <a:r>
              <a:rPr lang="en-US" sz="420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예시 (2번째 </a:t>
            </a:r>
            <a:r>
              <a:rPr lang="en-US" sz="420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행부터)</a:t>
            </a:r>
            <a:endParaRPr lang="en-US" sz="4200" dirty="0"/>
          </a:p>
        </p:txBody>
      </p:sp>
      <p:sp>
        <p:nvSpPr>
          <p:cNvPr id="36" name="Shape 34"/>
          <p:cNvSpPr/>
          <p:nvPr/>
        </p:nvSpPr>
        <p:spPr>
          <a:xfrm>
            <a:off x="939522" y="8394152"/>
            <a:ext cx="12751237" cy="1261825"/>
          </a:xfrm>
          <a:prstGeom prst="roundRect">
            <a:avLst>
              <a:gd name="adj" fmla="val 8935"/>
            </a:avLst>
          </a:prstGeom>
          <a:solidFill>
            <a:srgbClr val="F2F0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926187" y="8394152"/>
            <a:ext cx="12777907" cy="1261825"/>
          </a:xfrm>
          <a:prstGeom prst="roundRect">
            <a:avLst>
              <a:gd name="adj" fmla="val 3191"/>
            </a:avLst>
          </a:prstGeom>
          <a:solidFill>
            <a:srgbClr val="F2F0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194554" y="8595487"/>
            <a:ext cx="12241173" cy="85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highlight>
                  <a:srgbClr val="F2F0ED"/>
                </a:highlight>
                <a:latin typeface="Pretendard Variable Medium" panose="00000500000000000000" pitchFamily="2" charset="-127"/>
                <a:ea typeface="Pretendard Variable Medium" panose="00000500000000000000" pitchFamily="2" charset="-127"/>
                <a:cs typeface="Consolas" pitchFamily="34" charset="-120"/>
              </a:rPr>
              <a:t>33,1,초코 맛있음,초코칩쿠키,300g,"원재료 정보","조리방법 설명",규격단가,12500,kg단가,12500,500,"1,2,3",상온,N,N,N,N,N,N,N,N,N,N,N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39522" y="9957920"/>
            <a:ext cx="4071461" cy="1607583"/>
          </a:xfrm>
          <a:prstGeom prst="roundRect">
            <a:avLst>
              <a:gd name="adj" fmla="val 7014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939522" y="9957920"/>
            <a:ext cx="121920" cy="1607583"/>
          </a:xfrm>
          <a:prstGeom prst="roundRect">
            <a:avLst>
              <a:gd name="adj" fmla="val 9247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360289" y="10256767"/>
            <a:ext cx="335184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Y/N 필드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1360289" y="10837078"/>
            <a:ext cx="335184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Y(표시), N(숨김)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5279350" y="9957920"/>
            <a:ext cx="4071461" cy="1607583"/>
          </a:xfrm>
          <a:prstGeom prst="roundRect">
            <a:avLst>
              <a:gd name="adj" fmla="val 7014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279350" y="9957920"/>
            <a:ext cx="121920" cy="1607583"/>
          </a:xfrm>
          <a:prstGeom prst="roundRect">
            <a:avLst>
              <a:gd name="adj" fmla="val 9247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5700117" y="10256767"/>
            <a:ext cx="335184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텍스트 필드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5700117" y="10837078"/>
            <a:ext cx="335184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빈값 허용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9619178" y="9957920"/>
            <a:ext cx="4071580" cy="1607583"/>
          </a:xfrm>
          <a:prstGeom prst="roundRect">
            <a:avLst>
              <a:gd name="adj" fmla="val 7014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619178" y="9957920"/>
            <a:ext cx="121920" cy="1607583"/>
          </a:xfrm>
          <a:prstGeom prst="roundRect">
            <a:avLst>
              <a:gd name="adj" fmla="val 9247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10039945" y="10256767"/>
            <a:ext cx="3351967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숫자 필드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10039945" y="10837078"/>
            <a:ext cx="3351967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페이지, 순서는 정수</a:t>
            </a:r>
            <a:endParaRPr lang="en-US" sz="2100" dirty="0"/>
          </a:p>
        </p:txBody>
      </p:sp>
      <p:sp>
        <p:nvSpPr>
          <p:cNvPr id="51" name="Shape 6">
            <a:extLst>
              <a:ext uri="{FF2B5EF4-FFF2-40B4-BE49-F238E27FC236}">
                <a16:creationId xmlns:a16="http://schemas.microsoft.com/office/drawing/2014/main" id="{7BD8DA78-F2B0-0315-4DD2-BBE7F7D06B61}"/>
              </a:ext>
            </a:extLst>
          </p:cNvPr>
          <p:cNvSpPr/>
          <p:nvPr/>
        </p:nvSpPr>
        <p:spPr>
          <a:xfrm>
            <a:off x="939522" y="18141748"/>
            <a:ext cx="12751237" cy="1570317"/>
          </a:xfrm>
          <a:prstGeom prst="roundRect">
            <a:avLst>
              <a:gd name="adj" fmla="val 7180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1" descr="preencoded.png">
            <a:extLst>
              <a:ext uri="{FF2B5EF4-FFF2-40B4-BE49-F238E27FC236}">
                <a16:creationId xmlns:a16="http://schemas.microsoft.com/office/drawing/2014/main" id="{F1B90400-FC73-4519-1B51-C421D22EF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89" y="18547037"/>
            <a:ext cx="335518" cy="268367"/>
          </a:xfrm>
          <a:prstGeom prst="rect">
            <a:avLst/>
          </a:prstGeom>
        </p:spPr>
      </p:pic>
      <p:sp>
        <p:nvSpPr>
          <p:cNvPr id="53" name="Text 7">
            <a:extLst>
              <a:ext uri="{FF2B5EF4-FFF2-40B4-BE49-F238E27FC236}">
                <a16:creationId xmlns:a16="http://schemas.microsoft.com/office/drawing/2014/main" id="{CB723075-7959-DFF5-F900-198BF04D0494}"/>
              </a:ext>
            </a:extLst>
          </p:cNvPr>
          <p:cNvSpPr/>
          <p:nvPr/>
        </p:nvSpPr>
        <p:spPr>
          <a:xfrm>
            <a:off x="1811774" y="18477147"/>
            <a:ext cx="11610618" cy="85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ko-KR" altLang="en-US" sz="2100" b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일러스트레이터 스크립트는 </a:t>
            </a:r>
            <a:r>
              <a:rPr lang="en-US" altLang="ko-KR" sz="2100" b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csv</a:t>
            </a:r>
            <a:r>
              <a:rPr lang="ko-KR" altLang="en-US" sz="2100" b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만 지원하여 </a:t>
            </a:r>
            <a:r>
              <a:rPr lang="en-US" altLang="ko-KR" sz="2100" b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xlsx, xls </a:t>
            </a:r>
            <a:r>
              <a:rPr lang="ko-KR" altLang="en-US" sz="2100" b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등  엑셀파일 형식 불가</a:t>
            </a:r>
            <a:endParaRPr lang="en-US" altLang="ko-KR" sz="2100" b="1">
              <a:solidFill>
                <a:srgbClr val="00000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>
              <a:lnSpc>
                <a:spcPts val="3350"/>
              </a:lnSpc>
            </a:pPr>
            <a:r>
              <a:rPr lang="en-US" altLang="ko-KR" sz="2100" b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csv </a:t>
            </a:r>
            <a:r>
              <a:rPr lang="ko-KR" altLang="en-US" sz="2100" b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파일명 무관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C8EC1-8C90-1F30-5432-231536F3C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E9239544-4251-E132-E556-63FC169E8149}"/>
              </a:ext>
            </a:extLst>
          </p:cNvPr>
          <p:cNvSpPr/>
          <p:nvPr/>
        </p:nvSpPr>
        <p:spPr>
          <a:xfrm>
            <a:off x="604003" y="1864960"/>
            <a:ext cx="13422393" cy="642269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              </a:t>
            </a:r>
            <a:endParaRPr lang="ko-KR" alt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07ADC22-1061-2594-7276-2567DF0457D7}"/>
              </a:ext>
            </a:extLst>
          </p:cNvPr>
          <p:cNvSpPr/>
          <p:nvPr/>
        </p:nvSpPr>
        <p:spPr>
          <a:xfrm>
            <a:off x="939522" y="968298"/>
            <a:ext cx="6087189" cy="671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데이터 예시</a:t>
            </a:r>
            <a:endParaRPr lang="en-US" sz="4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0D2999-220F-59C7-E6E8-B34DABACE0FD}"/>
              </a:ext>
            </a:extLst>
          </p:cNvPr>
          <p:cNvSpPr txBox="1"/>
          <p:nvPr/>
        </p:nvSpPr>
        <p:spPr>
          <a:xfrm>
            <a:off x="939522" y="7675313"/>
            <a:ext cx="763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인증정보 </a:t>
            </a:r>
            <a:r>
              <a:rPr lang="en-US" altLang="ko-KR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해당 상품의 보유 인증은 </a:t>
            </a:r>
            <a:r>
              <a:rPr lang="en-US" altLang="ko-KR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“Y”, </a:t>
            </a:r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미보유 인증은 </a:t>
            </a:r>
            <a:r>
              <a:rPr lang="en-US" altLang="ko-KR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“N”</a:t>
            </a: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BE08102E-C1CB-3138-524F-9039A2F17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22" y="2416296"/>
            <a:ext cx="12611308" cy="4923618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5F4E854-3EF4-1A7B-FDE5-157E09E0F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096207"/>
              </p:ext>
            </p:extLst>
          </p:nvPr>
        </p:nvGraphicFramePr>
        <p:xfrm>
          <a:off x="604003" y="8513283"/>
          <a:ext cx="13422393" cy="10969279"/>
        </p:xfrm>
        <a:graphic>
          <a:graphicData uri="http://schemas.openxmlformats.org/drawingml/2006/table">
            <a:tbl>
              <a:tblPr/>
              <a:tblGrid>
                <a:gridCol w="2639551">
                  <a:extLst>
                    <a:ext uri="{9D8B030D-6E8A-4147-A177-3AD203B41FA5}">
                      <a16:colId xmlns:a16="http://schemas.microsoft.com/office/drawing/2014/main" val="1655900407"/>
                    </a:ext>
                  </a:extLst>
                </a:gridCol>
                <a:gridCol w="6308711">
                  <a:extLst>
                    <a:ext uri="{9D8B030D-6E8A-4147-A177-3AD203B41FA5}">
                      <a16:colId xmlns:a16="http://schemas.microsoft.com/office/drawing/2014/main" val="1675468138"/>
                    </a:ext>
                  </a:extLst>
                </a:gridCol>
                <a:gridCol w="4474131">
                  <a:extLst>
                    <a:ext uri="{9D8B030D-6E8A-4147-A177-3AD203B41FA5}">
                      <a16:colId xmlns:a16="http://schemas.microsoft.com/office/drawing/2014/main" val="1240468885"/>
                    </a:ext>
                  </a:extLst>
                </a:gridCol>
              </a:tblGrid>
              <a:tr h="6690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FFFFFF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헤     더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FFFFFF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내      용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FFFFFF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예     시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889323"/>
                  </a:ext>
                </a:extLst>
              </a:tr>
              <a:tr h="6122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페이지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단가표 해당 페이지 번호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33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223837"/>
                  </a:ext>
                </a:extLst>
              </a:tr>
              <a:tr h="6122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순서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페이지 내 상품의 연번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1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785250"/>
                  </a:ext>
                </a:extLst>
              </a:tr>
              <a:tr h="11760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타이틀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상품명 상단 원재료 강조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무농약 우리밀</a:t>
                      </a:r>
                      <a:r>
                        <a:rPr lang="en-US" altLang="ko-KR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/ </a:t>
                      </a: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국산 무항생제 돼지고기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712093"/>
                  </a:ext>
                </a:extLst>
              </a:tr>
              <a:tr h="6122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상품명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상품명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우리밀 물만두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690638"/>
                  </a:ext>
                </a:extLst>
              </a:tr>
              <a:tr h="6122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용량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규격 </a:t>
                      </a:r>
                      <a:r>
                        <a:rPr lang="en-US" altLang="ko-KR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/ </a:t>
                      </a: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제품 용량 및 수량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1 kg (</a:t>
                      </a: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약 </a:t>
                      </a:r>
                      <a:r>
                        <a:rPr lang="en-US" altLang="ko-KR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9g*110</a:t>
                      </a: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개 내외</a:t>
                      </a:r>
                      <a:r>
                        <a:rPr lang="en-US" altLang="ko-KR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)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650889"/>
                  </a:ext>
                </a:extLst>
              </a:tr>
              <a:tr h="9920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원재료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원재료 및 함량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800" kern="0" spc="-10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돼지고기</a:t>
                      </a:r>
                      <a:r>
                        <a:rPr lang="en-US" altLang="ko-KR" sz="1800" kern="0" spc="-10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(</a:t>
                      </a:r>
                      <a:r>
                        <a:rPr lang="ko-KR" altLang="en-US" sz="1800" kern="0" spc="-10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무항생제</a:t>
                      </a:r>
                      <a:r>
                        <a:rPr lang="en-US" altLang="ko-KR" sz="1800" kern="0" spc="-10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, </a:t>
                      </a:r>
                      <a:r>
                        <a:rPr lang="ko-KR" altLang="en-US" sz="1800" kern="0" spc="-10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국산</a:t>
                      </a:r>
                      <a:r>
                        <a:rPr lang="en-US" altLang="ko-KR" sz="1800" kern="0" spc="-10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) 30.40%, </a:t>
                      </a:r>
                      <a:r>
                        <a:rPr lang="ko-KR" altLang="en-US" sz="1800" kern="0" spc="-10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밀가루</a:t>
                      </a:r>
                      <a:r>
                        <a:rPr lang="en-US" altLang="ko-KR" sz="1800" kern="0" spc="-10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(</a:t>
                      </a:r>
                      <a:r>
                        <a:rPr lang="ko-KR" altLang="en-US" sz="1800" kern="0" spc="-10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밀</a:t>
                      </a:r>
                      <a:r>
                        <a:rPr lang="en-US" altLang="ko-KR" sz="1800" kern="0" spc="-10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:</a:t>
                      </a:r>
                      <a:r>
                        <a:rPr lang="ko-KR" altLang="en-US" sz="1800" kern="0" spc="-10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무농약</a:t>
                      </a:r>
                      <a:r>
                        <a:rPr lang="en-US" altLang="ko-KR" sz="1800" kern="0" spc="-10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, </a:t>
                      </a:r>
                      <a:r>
                        <a:rPr lang="ko-KR" altLang="en-US" sz="1800" kern="0" spc="-10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국산</a:t>
                      </a:r>
                      <a:r>
                        <a:rPr lang="en-US" altLang="ko-KR" sz="1800" kern="0" spc="-10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) 22.46%, ... ...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513941"/>
                  </a:ext>
                </a:extLst>
              </a:tr>
              <a:tr h="139899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설명란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특장점</a:t>
                      </a:r>
                      <a:r>
                        <a:rPr lang="en-US" altLang="ko-KR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, </a:t>
                      </a: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조리방법 등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• </a:t>
                      </a:r>
                      <a:r>
                        <a:rPr lang="ko-KR" altLang="en-US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튀김 </a:t>
                      </a:r>
                      <a:r>
                        <a:rPr lang="en-US" altLang="ko-KR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: 170</a:t>
                      </a:r>
                      <a:r>
                        <a:rPr lang="ko-KR" altLang="en-US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℃</a:t>
                      </a:r>
                      <a:r>
                        <a:rPr lang="en-US" altLang="ko-KR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, 3~4</a:t>
                      </a:r>
                      <a:r>
                        <a:rPr lang="ko-KR" altLang="en-US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분 </a:t>
                      </a:r>
                      <a:r>
                        <a:rPr lang="en-US" altLang="ko-KR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• </a:t>
                      </a:r>
                      <a:r>
                        <a:rPr lang="ko-KR" altLang="en-US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오븐 </a:t>
                      </a:r>
                      <a:r>
                        <a:rPr lang="en-US" altLang="ko-KR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: 90~100</a:t>
                      </a:r>
                      <a:r>
                        <a:rPr lang="ko-KR" altLang="en-US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℃</a:t>
                      </a:r>
                      <a:r>
                        <a:rPr lang="en-US" altLang="ko-KR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, 15</a:t>
                      </a:r>
                      <a:r>
                        <a:rPr lang="ko-KR" altLang="en-US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분</a:t>
                      </a:r>
                      <a:r>
                        <a:rPr lang="en-US" altLang="ko-KR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(</a:t>
                      </a:r>
                      <a:r>
                        <a:rPr lang="ko-KR" altLang="en-US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스팀 모드</a:t>
                      </a:r>
                      <a:r>
                        <a:rPr lang="en-US" altLang="ko-KR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)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• </a:t>
                      </a:r>
                      <a:r>
                        <a:rPr lang="ko-KR" altLang="en-US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탕국 조리 </a:t>
                      </a:r>
                      <a:r>
                        <a:rPr lang="en-US" altLang="ko-KR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: </a:t>
                      </a:r>
                      <a:r>
                        <a:rPr lang="ko-KR" altLang="en-US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만두피가 얇아 따로 삶아 국물에 넣거나</a:t>
                      </a:r>
                      <a:r>
                        <a:rPr lang="en-US" altLang="ko-KR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, </a:t>
                      </a:r>
                      <a:r>
                        <a:rPr lang="ko-KR" altLang="en-US" sz="1800" kern="0" spc="-2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별도 배식 권장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231836"/>
                  </a:ext>
                </a:extLst>
              </a:tr>
              <a:tr h="6122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서브단가명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보조로 표시되는 가격 명칭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수도권 </a:t>
                      </a:r>
                      <a:r>
                        <a:rPr lang="en-US" altLang="ko-KR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: “</a:t>
                      </a: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규격단가”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042225"/>
                  </a:ext>
                </a:extLst>
              </a:tr>
              <a:tr h="6122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서브단가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보조 가격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8,000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65549"/>
                  </a:ext>
                </a:extLst>
              </a:tr>
              <a:tr h="6122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메인단가명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굵게 표시되는 가격 명칭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수도권 </a:t>
                      </a:r>
                      <a:r>
                        <a:rPr lang="en-US" altLang="ko-KR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: “KG</a:t>
                      </a: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단가”</a:t>
                      </a:r>
                      <a:r>
                        <a:rPr lang="en-US" altLang="ko-KR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, “L</a:t>
                      </a: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단가”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231828"/>
                  </a:ext>
                </a:extLst>
              </a:tr>
              <a:tr h="6122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메인단가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굵게 표시되는 가격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16,000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994609"/>
                  </a:ext>
                </a:extLst>
              </a:tr>
              <a:tr h="6122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개당단가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개당 단가 존재 시 표시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146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76359"/>
                  </a:ext>
                </a:extLst>
              </a:tr>
              <a:tr h="6122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알러지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알러지 번호 나열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1, 5, 6, 10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168816"/>
                  </a:ext>
                </a:extLst>
              </a:tr>
              <a:tr h="6109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보관방법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보관 방법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냉동</a:t>
                      </a:r>
                      <a:r>
                        <a:rPr lang="en-US" altLang="ko-KR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/</a:t>
                      </a: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냉장</a:t>
                      </a:r>
                      <a:r>
                        <a:rPr lang="en-US" altLang="ko-KR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/</a:t>
                      </a: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상온</a:t>
                      </a:r>
                      <a:r>
                        <a:rPr lang="en-US" altLang="ko-KR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/</a:t>
                      </a:r>
                      <a:r>
                        <a:rPr lang="ko-KR" altLang="en-US" sz="2800" kern="0" spc="0">
                          <a:solidFill>
                            <a:srgbClr val="000000"/>
                          </a:solidFill>
                          <a:effectLst/>
                          <a:latin typeface="Pretendard Variable" panose="00000500000000000000" pitchFamily="2" charset="-127"/>
                          <a:ea typeface="Pretendard Variable" panose="00000500000000000000" pitchFamily="2" charset="-127"/>
                        </a:rPr>
                        <a:t>개봉후냉장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000" marR="216000" marT="0" marB="0" anchor="ctr">
                    <a:lnL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30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4052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Auto-DanGGA 사용 </a:t>
            </a: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방법</a:t>
            </a:r>
            <a:endParaRPr lang="en-US" sz="5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22" y="2113957"/>
            <a:ext cx="1342192" cy="2593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50081" y="2382324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1. 스크립트 실행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550081" y="2962635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350"/>
              </a:lnSpc>
              <a:buSzPct val="100000"/>
            </a:pP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1) </a:t>
            </a:r>
            <a:r>
              <a:rPr lang="ko-KR" alt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일러스트 스크립트 설치경로에 </a:t>
            </a:r>
            <a:r>
              <a:rPr lang="en-US" altLang="ko-KR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Auto-DanGGA.jsx </a:t>
            </a:r>
            <a:r>
              <a:rPr lang="ko-KR" alt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파일 추가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2550081" y="8483801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Font typeface="+mj-lt"/>
              <a:buAutoNum type="arabicPeriod" startAt="2"/>
            </a:pPr>
            <a:r>
              <a:rPr lang="ko-KR" alt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일러스트 재실행 및 템플릿 구성이 완료된 단가표 파일 열기</a:t>
            </a:r>
            <a:endParaRPr lang="en-US" altLang="ko-KR" sz="2100">
              <a:solidFill>
                <a:srgbClr val="45424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342900" indent="-342900">
              <a:lnSpc>
                <a:spcPts val="3350"/>
              </a:lnSpc>
              <a:buSzPct val="100000"/>
              <a:buFont typeface="+mj-lt"/>
              <a:buAutoNum type="arabicPeriod" startAt="2"/>
            </a:pP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파일 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&gt; 스크립트 </a:t>
            </a: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&gt; </a:t>
            </a:r>
            <a:r>
              <a:rPr lang="en-US" altLang="ko-KR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Auto-DanGGA  선택</a:t>
            </a:r>
            <a:endParaRPr lang="en-US" altLang="ko-KR" sz="2100"/>
          </a:p>
          <a:p>
            <a:pPr marL="342900" indent="-342900" algn="l">
              <a:lnSpc>
                <a:spcPts val="3350"/>
              </a:lnSpc>
              <a:buSzPct val="100000"/>
              <a:buFont typeface="+mj-lt"/>
              <a:buAutoNum type="arabicPeriod" startAt="2"/>
            </a:pP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080260" y="11042461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Font typeface="+mj-lt"/>
              <a:buAutoNum type="arabicPeriod" startAt="3"/>
            </a:pPr>
            <a:endParaRPr lang="en-US" sz="2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AD2F05-E395-7A3B-DD63-2DF4C3EE0261}"/>
              </a:ext>
            </a:extLst>
          </p:cNvPr>
          <p:cNvSpPr txBox="1"/>
          <p:nvPr/>
        </p:nvSpPr>
        <p:spPr>
          <a:xfrm>
            <a:off x="2724150" y="3534136"/>
            <a:ext cx="8191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C:\Program Files\Adobe\Adobe Illustrator 2025\Presets\en_US\Scripts</a:t>
            </a:r>
            <a:br>
              <a:rPr lang="en-US" altLang="ko-KR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일러스트 버전과 언어별 경로 차이 있음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5E276F3-624E-5929-75A9-18C96C89E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150" y="4468140"/>
            <a:ext cx="8943975" cy="375285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AF0D5FE-1427-57D4-BCBE-6FDCB975DA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150" y="9497219"/>
            <a:ext cx="8943975" cy="8384277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6A1D98-A4A4-D5A6-774C-5CB5B8168E38}"/>
              </a:ext>
            </a:extLst>
          </p:cNvPr>
          <p:cNvSpPr/>
          <p:nvPr/>
        </p:nvSpPr>
        <p:spPr>
          <a:xfrm>
            <a:off x="7525346" y="15566677"/>
            <a:ext cx="2418754" cy="304561"/>
          </a:xfrm>
          <a:prstGeom prst="rect">
            <a:avLst/>
          </a:prstGeom>
          <a:noFill/>
          <a:ln w="76200">
            <a:solidFill>
              <a:srgbClr val="FBE9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Auto-DanGGA 설정 </a:t>
            </a: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화면</a:t>
            </a:r>
            <a:endParaRPr lang="en-US" sz="5250" dirty="0"/>
          </a:p>
        </p:txBody>
      </p:sp>
      <p:sp>
        <p:nvSpPr>
          <p:cNvPr id="4" name="Shape 1"/>
          <p:cNvSpPr/>
          <p:nvPr/>
        </p:nvSpPr>
        <p:spPr>
          <a:xfrm>
            <a:off x="939523" y="1979772"/>
            <a:ext cx="4546878" cy="3203259"/>
          </a:xfrm>
          <a:prstGeom prst="roundRect">
            <a:avLst>
              <a:gd name="adj" fmla="val 4253"/>
            </a:avLst>
          </a:prstGeom>
          <a:solidFill>
            <a:srgbClr val="F7EDD4"/>
          </a:solidFill>
          <a:ln w="1524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1223129" y="2263380"/>
            <a:ext cx="805339" cy="805339"/>
          </a:xfrm>
          <a:prstGeom prst="roundRect">
            <a:avLst>
              <a:gd name="adj" fmla="val 11353089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585" y="2439593"/>
            <a:ext cx="362307" cy="4529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23129" y="3337087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프로젝트 정보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1223129" y="3917398"/>
            <a:ext cx="3958471" cy="113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CSV </a:t>
            </a: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헤더 감지:</a:t>
            </a:r>
            <a:b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자동으로 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감지된 헤더 개수와 목록 표시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142434" y="2021445"/>
            <a:ext cx="7264837" cy="3080388"/>
          </a:xfrm>
          <a:prstGeom prst="roundRect">
            <a:avLst>
              <a:gd name="adj" fmla="val 3660"/>
            </a:avLst>
          </a:prstGeom>
          <a:solidFill>
            <a:srgbClr val="F7EDD4"/>
          </a:solidFill>
          <a:ln w="1524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6426041" y="2305052"/>
            <a:ext cx="805339" cy="805339"/>
          </a:xfrm>
          <a:prstGeom prst="roundRect">
            <a:avLst>
              <a:gd name="adj" fmla="val 11353089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497" y="2481265"/>
            <a:ext cx="362307" cy="4529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26041" y="3378759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페이지 선택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6426041" y="3959070"/>
            <a:ext cx="6697623" cy="85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페이지 번호 입력: 처리할 페이지 번호 직접 입력사용 가능 페이지: CSV에서 사용 가능한 페이지 목록 표시</a:t>
            </a:r>
            <a:endParaRPr lang="en-US" sz="2100" dirty="0"/>
          </a:p>
        </p:txBody>
      </p:sp>
      <p:sp>
        <p:nvSpPr>
          <p:cNvPr id="14" name="Shape 9"/>
          <p:cNvSpPr/>
          <p:nvPr/>
        </p:nvSpPr>
        <p:spPr>
          <a:xfrm>
            <a:off x="385762" y="17042067"/>
            <a:ext cx="7264837" cy="2409351"/>
          </a:xfrm>
          <a:prstGeom prst="roundRect">
            <a:avLst>
              <a:gd name="adj" fmla="val 6072"/>
            </a:avLst>
          </a:prstGeom>
          <a:solidFill>
            <a:srgbClr val="FFFD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385763" y="17011587"/>
            <a:ext cx="6624042" cy="121920"/>
          </a:xfrm>
          <a:prstGeom prst="roundRect">
            <a:avLst>
              <a:gd name="adj" fmla="val 9247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3615452" y="16639397"/>
            <a:ext cx="805339" cy="805339"/>
          </a:xfrm>
          <a:prstGeom prst="roundRect">
            <a:avLst>
              <a:gd name="adj" fmla="val 113542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029" y="16840732"/>
            <a:ext cx="322064" cy="40267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4609" y="17713104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배치 방식 선택</a:t>
            </a:r>
            <a:endParaRPr lang="en-US" sz="2600" dirty="0"/>
          </a:p>
        </p:txBody>
      </p:sp>
      <p:sp>
        <p:nvSpPr>
          <p:cNvPr id="19" name="Text 13"/>
          <p:cNvSpPr/>
          <p:nvPr/>
        </p:nvSpPr>
        <p:spPr>
          <a:xfrm>
            <a:off x="684609" y="18293415"/>
            <a:ext cx="6667143" cy="85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🏆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인증정보 배치: 좌→우, 우→좌, 상→하 중 선택</a:t>
            </a:r>
            <a:r>
              <a:rPr lang="en-US" sz="2100" b="1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🏷️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상품태그 배치: 좌→우, 상→하 중 선택</a:t>
            </a:r>
            <a:endParaRPr lang="en-US" sz="2100" dirty="0"/>
          </a:p>
        </p:txBody>
      </p:sp>
      <p:sp>
        <p:nvSpPr>
          <p:cNvPr id="20" name="Shape 14"/>
          <p:cNvSpPr/>
          <p:nvPr/>
        </p:nvSpPr>
        <p:spPr>
          <a:xfrm>
            <a:off x="7351752" y="17042067"/>
            <a:ext cx="6624042" cy="2409351"/>
          </a:xfrm>
          <a:prstGeom prst="roundRect">
            <a:avLst>
              <a:gd name="adj" fmla="val 6072"/>
            </a:avLst>
          </a:prstGeom>
          <a:solidFill>
            <a:srgbClr val="FFFD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10581441" y="16639397"/>
            <a:ext cx="805339" cy="805339"/>
          </a:xfrm>
          <a:prstGeom prst="roundRect">
            <a:avLst>
              <a:gd name="adj" fmla="val 113542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/>
          <p:nvPr/>
        </p:nvSpPr>
        <p:spPr>
          <a:xfrm>
            <a:off x="7650598" y="17713104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미리보기</a:t>
            </a:r>
            <a:endParaRPr lang="en-US" sz="2600" dirty="0"/>
          </a:p>
        </p:txBody>
      </p:sp>
      <p:sp>
        <p:nvSpPr>
          <p:cNvPr id="25" name="Text 18"/>
          <p:cNvSpPr/>
          <p:nvPr/>
        </p:nvSpPr>
        <p:spPr>
          <a:xfrm>
            <a:off x="7650599" y="18293415"/>
            <a:ext cx="5754768" cy="85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선택한 페이지의 상품 정보 및 활성 필드 미리보기실시간 업데이트</a:t>
            </a:r>
            <a:endParaRPr lang="en-US" sz="21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2A1E9F5C-BFD0-369D-E11B-F18C6085840B}"/>
              </a:ext>
            </a:extLst>
          </p:cNvPr>
          <p:cNvSpPr/>
          <p:nvPr/>
        </p:nvSpPr>
        <p:spPr>
          <a:xfrm>
            <a:off x="7510997" y="17011587"/>
            <a:ext cx="6624042" cy="121920"/>
          </a:xfrm>
          <a:prstGeom prst="roundRect">
            <a:avLst>
              <a:gd name="adj" fmla="val 9247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3018" y="16840732"/>
            <a:ext cx="322064" cy="40267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8441B2D-12E3-7CE5-3E7A-F9426DF7CC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522" y="5827613"/>
            <a:ext cx="12465845" cy="84081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실행 및 결과</a:t>
            </a:r>
            <a:endParaRPr lang="en-US" sz="5250" dirty="0"/>
          </a:p>
        </p:txBody>
      </p:sp>
      <p:sp>
        <p:nvSpPr>
          <p:cNvPr id="3" name="Text 1"/>
          <p:cNvSpPr/>
          <p:nvPr/>
        </p:nvSpPr>
        <p:spPr>
          <a:xfrm>
            <a:off x="939522" y="2248140"/>
            <a:ext cx="5368885" cy="671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최종 확인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39522" y="3187544"/>
            <a:ext cx="6048137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선택된 설정 요약 표시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9522" y="3711062"/>
            <a:ext cx="6048137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처리할 상품 개수 확인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39522" y="4442583"/>
            <a:ext cx="6048137" cy="1570317"/>
          </a:xfrm>
          <a:prstGeom prst="roundRect">
            <a:avLst>
              <a:gd name="adj" fmla="val 7180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89" y="4847872"/>
            <a:ext cx="335518" cy="2683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11774" y="4777982"/>
            <a:ext cx="4907518" cy="85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자동 처리 완료!</a:t>
            </a:r>
            <a:r>
              <a:rPr lang="en-US" sz="2100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모든 설정이 올바르게 적용되었는지 최종 확인 후 실행하세요.</a:t>
            </a:r>
            <a:endParaRPr lang="en-US" sz="210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501DE58-549D-1F36-5B7D-E0761B5592E6}"/>
              </a:ext>
            </a:extLst>
          </p:cNvPr>
          <p:cNvGrpSpPr/>
          <p:nvPr/>
        </p:nvGrpSpPr>
        <p:grpSpPr>
          <a:xfrm>
            <a:off x="939522" y="13655729"/>
            <a:ext cx="12751237" cy="6627144"/>
            <a:chOff x="939522" y="8933743"/>
            <a:chExt cx="12751237" cy="6627144"/>
          </a:xfrm>
        </p:grpSpPr>
        <p:sp>
          <p:nvSpPr>
            <p:cNvPr id="10" name="Shape 6"/>
            <p:cNvSpPr/>
            <p:nvPr/>
          </p:nvSpPr>
          <p:spPr>
            <a:xfrm>
              <a:off x="7299841" y="8933743"/>
              <a:ext cx="30480" cy="6627144"/>
            </a:xfrm>
            <a:prstGeom prst="roundRect">
              <a:avLst>
                <a:gd name="adj" fmla="val 369909"/>
              </a:avLst>
            </a:prstGeom>
            <a:solidFill>
              <a:srgbClr val="DDD3BA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Shape 7"/>
            <p:cNvSpPr/>
            <p:nvPr/>
          </p:nvSpPr>
          <p:spPr>
            <a:xfrm>
              <a:off x="6238220" y="9220446"/>
              <a:ext cx="805339" cy="30480"/>
            </a:xfrm>
            <a:prstGeom prst="roundRect">
              <a:avLst>
                <a:gd name="adj" fmla="val 369909"/>
              </a:avLst>
            </a:prstGeom>
            <a:solidFill>
              <a:srgbClr val="DDD3BA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Shape 8"/>
            <p:cNvSpPr/>
            <p:nvPr/>
          </p:nvSpPr>
          <p:spPr>
            <a:xfrm>
              <a:off x="7013079" y="8933743"/>
              <a:ext cx="604004" cy="604005"/>
            </a:xfrm>
            <a:prstGeom prst="roundRect">
              <a:avLst>
                <a:gd name="adj" fmla="val 18667"/>
              </a:avLst>
            </a:prstGeom>
            <a:solidFill>
              <a:srgbClr val="F7EDD4"/>
            </a:solidFill>
            <a:ln w="15240">
              <a:solidFill>
                <a:srgbClr val="DDD3B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9"/>
            <p:cNvSpPr/>
            <p:nvPr/>
          </p:nvSpPr>
          <p:spPr>
            <a:xfrm>
              <a:off x="7113687" y="8984047"/>
              <a:ext cx="402669" cy="50327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150"/>
                </a:lnSpc>
                <a:buNone/>
              </a:pPr>
              <a:r>
                <a:rPr lang="en-US" sz="3150" dirty="0">
                  <a:solidFill>
                    <a:srgbClr val="454240"/>
                  </a:solidFill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1</a:t>
              </a:r>
              <a:endParaRPr lang="en-US" sz="3150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2617351" y="9026017"/>
              <a:ext cx="3355538" cy="4193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3300"/>
                </a:lnSpc>
                <a:buNone/>
              </a:pPr>
              <a:r>
                <a:rPr lang="en-US" sz="2600" dirty="0">
                  <a:solidFill>
                    <a:srgbClr val="454240"/>
                  </a:solidFill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1. 텍스트 업데이트</a:t>
              </a:r>
              <a:endParaRPr lang="en-US" sz="2600" dirty="0"/>
            </a:p>
          </p:txBody>
        </p:sp>
        <p:sp>
          <p:nvSpPr>
            <p:cNvPr id="15" name="Text 11"/>
            <p:cNvSpPr/>
            <p:nvPr/>
          </p:nvSpPr>
          <p:spPr>
            <a:xfrm>
              <a:off x="939522" y="9606328"/>
              <a:ext cx="5033367" cy="42957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3350"/>
                </a:lnSpc>
                <a:buNone/>
              </a:pPr>
              <a:r>
                <a:rPr lang="en-US" sz="2100" dirty="0">
                  <a:solidFill>
                    <a:srgbClr val="454240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모든 기본 필드 자동 입력</a:t>
              </a:r>
              <a:endParaRPr lang="en-US" sz="2100" dirty="0"/>
            </a:p>
          </p:txBody>
        </p:sp>
        <p:sp>
          <p:nvSpPr>
            <p:cNvPr id="16" name="Shape 12"/>
            <p:cNvSpPr/>
            <p:nvPr/>
          </p:nvSpPr>
          <p:spPr>
            <a:xfrm>
              <a:off x="7586603" y="10831006"/>
              <a:ext cx="805339" cy="30480"/>
            </a:xfrm>
            <a:prstGeom prst="roundRect">
              <a:avLst>
                <a:gd name="adj" fmla="val 369909"/>
              </a:avLst>
            </a:prstGeom>
            <a:solidFill>
              <a:srgbClr val="DDD3BA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3"/>
            <p:cNvSpPr/>
            <p:nvPr/>
          </p:nvSpPr>
          <p:spPr>
            <a:xfrm>
              <a:off x="7013079" y="10544303"/>
              <a:ext cx="604004" cy="604005"/>
            </a:xfrm>
            <a:prstGeom prst="roundRect">
              <a:avLst>
                <a:gd name="adj" fmla="val 18667"/>
              </a:avLst>
            </a:prstGeom>
            <a:solidFill>
              <a:srgbClr val="F7EDD4"/>
            </a:solidFill>
            <a:ln w="15240">
              <a:solidFill>
                <a:srgbClr val="DDD3B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4"/>
            <p:cNvSpPr/>
            <p:nvPr/>
          </p:nvSpPr>
          <p:spPr>
            <a:xfrm>
              <a:off x="7113687" y="10594607"/>
              <a:ext cx="402669" cy="50327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150"/>
                </a:lnSpc>
                <a:buNone/>
              </a:pPr>
              <a:r>
                <a:rPr lang="en-US" sz="3150" dirty="0">
                  <a:solidFill>
                    <a:srgbClr val="454240"/>
                  </a:solidFill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2</a:t>
              </a:r>
              <a:endParaRPr lang="en-US" sz="3150" dirty="0"/>
            </a:p>
          </p:txBody>
        </p:sp>
        <p:sp>
          <p:nvSpPr>
            <p:cNvPr id="19" name="Text 15"/>
            <p:cNvSpPr/>
            <p:nvPr/>
          </p:nvSpPr>
          <p:spPr>
            <a:xfrm>
              <a:off x="8657273" y="10636577"/>
              <a:ext cx="3355538" cy="4193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00" dirty="0">
                  <a:solidFill>
                    <a:srgbClr val="454240"/>
                  </a:solidFill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2. 동적 요소 처리</a:t>
              </a:r>
              <a:endParaRPr lang="en-US" sz="2600" dirty="0"/>
            </a:p>
          </p:txBody>
        </p:sp>
        <p:sp>
          <p:nvSpPr>
            <p:cNvPr id="20" name="Text 16"/>
            <p:cNvSpPr/>
            <p:nvPr/>
          </p:nvSpPr>
          <p:spPr>
            <a:xfrm>
              <a:off x="8657273" y="11216888"/>
              <a:ext cx="5033486" cy="42957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50"/>
                </a:lnSpc>
                <a:buNone/>
              </a:pPr>
              <a:r>
                <a:rPr lang="en-US" sz="2100" dirty="0">
                  <a:solidFill>
                    <a:srgbClr val="454240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인증마크/상품태그 표시/숨김 및 배치</a:t>
              </a:r>
              <a:endParaRPr lang="en-US" sz="2100" dirty="0"/>
            </a:p>
          </p:txBody>
        </p:sp>
        <p:sp>
          <p:nvSpPr>
            <p:cNvPr id="21" name="Shape 17"/>
            <p:cNvSpPr/>
            <p:nvPr/>
          </p:nvSpPr>
          <p:spPr>
            <a:xfrm>
              <a:off x="6238220" y="12219276"/>
              <a:ext cx="805339" cy="30480"/>
            </a:xfrm>
            <a:prstGeom prst="roundRect">
              <a:avLst>
                <a:gd name="adj" fmla="val 369909"/>
              </a:avLst>
            </a:prstGeom>
            <a:solidFill>
              <a:srgbClr val="DDD3BA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18"/>
            <p:cNvSpPr/>
            <p:nvPr/>
          </p:nvSpPr>
          <p:spPr>
            <a:xfrm>
              <a:off x="7013079" y="11932573"/>
              <a:ext cx="604004" cy="604005"/>
            </a:xfrm>
            <a:prstGeom prst="roundRect">
              <a:avLst>
                <a:gd name="adj" fmla="val 18667"/>
              </a:avLst>
            </a:prstGeom>
            <a:solidFill>
              <a:srgbClr val="F7EDD4"/>
            </a:solidFill>
            <a:ln w="15240">
              <a:solidFill>
                <a:srgbClr val="DDD3B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19"/>
            <p:cNvSpPr/>
            <p:nvPr/>
          </p:nvSpPr>
          <p:spPr>
            <a:xfrm>
              <a:off x="7113687" y="11982877"/>
              <a:ext cx="402669" cy="50327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150"/>
                </a:lnSpc>
                <a:buNone/>
              </a:pPr>
              <a:r>
                <a:rPr lang="en-US" sz="3150" dirty="0">
                  <a:solidFill>
                    <a:srgbClr val="454240"/>
                  </a:solidFill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3</a:t>
              </a:r>
              <a:endParaRPr lang="en-US" sz="3150" dirty="0"/>
            </a:p>
          </p:txBody>
        </p:sp>
        <p:sp>
          <p:nvSpPr>
            <p:cNvPr id="24" name="Text 20"/>
            <p:cNvSpPr/>
            <p:nvPr/>
          </p:nvSpPr>
          <p:spPr>
            <a:xfrm>
              <a:off x="2617351" y="12024847"/>
              <a:ext cx="3355538" cy="4193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3300"/>
                </a:lnSpc>
                <a:buNone/>
              </a:pPr>
              <a:r>
                <a:rPr lang="en-US" sz="2600" dirty="0">
                  <a:solidFill>
                    <a:srgbClr val="454240"/>
                  </a:solidFill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3. 이미지 연결</a:t>
              </a:r>
              <a:endParaRPr lang="en-US" sz="2600" dirty="0"/>
            </a:p>
          </p:txBody>
        </p:sp>
        <p:sp>
          <p:nvSpPr>
            <p:cNvPr id="25" name="Text 21"/>
            <p:cNvSpPr/>
            <p:nvPr/>
          </p:nvSpPr>
          <p:spPr>
            <a:xfrm>
              <a:off x="939522" y="12605158"/>
              <a:ext cx="5033367" cy="42957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3350"/>
                </a:lnSpc>
                <a:buNone/>
              </a:pPr>
              <a:r>
                <a:rPr lang="en-US" sz="2100" dirty="0">
                  <a:solidFill>
                    <a:srgbClr val="454240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메인/미니 이미지 자동 교체</a:t>
              </a:r>
              <a:endParaRPr lang="en-US" sz="2100" dirty="0"/>
            </a:p>
          </p:txBody>
        </p:sp>
        <p:sp>
          <p:nvSpPr>
            <p:cNvPr id="26" name="Shape 22"/>
            <p:cNvSpPr/>
            <p:nvPr/>
          </p:nvSpPr>
          <p:spPr>
            <a:xfrm>
              <a:off x="7586603" y="13607665"/>
              <a:ext cx="805339" cy="30480"/>
            </a:xfrm>
            <a:prstGeom prst="roundRect">
              <a:avLst>
                <a:gd name="adj" fmla="val 369909"/>
              </a:avLst>
            </a:prstGeom>
            <a:solidFill>
              <a:srgbClr val="DDD3BA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3"/>
            <p:cNvSpPr/>
            <p:nvPr/>
          </p:nvSpPr>
          <p:spPr>
            <a:xfrm>
              <a:off x="7013079" y="13320962"/>
              <a:ext cx="604004" cy="604005"/>
            </a:xfrm>
            <a:prstGeom prst="roundRect">
              <a:avLst>
                <a:gd name="adj" fmla="val 18667"/>
              </a:avLst>
            </a:prstGeom>
            <a:solidFill>
              <a:srgbClr val="F7EDD4"/>
            </a:solidFill>
            <a:ln w="15240">
              <a:solidFill>
                <a:srgbClr val="DDD3B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4"/>
            <p:cNvSpPr/>
            <p:nvPr/>
          </p:nvSpPr>
          <p:spPr>
            <a:xfrm>
              <a:off x="7113687" y="13371266"/>
              <a:ext cx="402669" cy="50327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150"/>
                </a:lnSpc>
                <a:buNone/>
              </a:pPr>
              <a:r>
                <a:rPr lang="en-US" sz="3150" dirty="0">
                  <a:solidFill>
                    <a:srgbClr val="454240"/>
                  </a:solidFill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4</a:t>
              </a:r>
              <a:endParaRPr lang="en-US" sz="3150" dirty="0"/>
            </a:p>
          </p:txBody>
        </p:sp>
        <p:sp>
          <p:nvSpPr>
            <p:cNvPr id="29" name="Text 25"/>
            <p:cNvSpPr/>
            <p:nvPr/>
          </p:nvSpPr>
          <p:spPr>
            <a:xfrm>
              <a:off x="8657273" y="13413236"/>
              <a:ext cx="3355538" cy="4193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00" dirty="0">
                  <a:solidFill>
                    <a:srgbClr val="454240"/>
                  </a:solidFill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4. 색상 적용</a:t>
              </a:r>
              <a:endParaRPr lang="en-US" sz="2600" dirty="0"/>
            </a:p>
          </p:txBody>
        </p:sp>
        <p:sp>
          <p:nvSpPr>
            <p:cNvPr id="30" name="Text 26"/>
            <p:cNvSpPr/>
            <p:nvPr/>
          </p:nvSpPr>
          <p:spPr>
            <a:xfrm>
              <a:off x="8657273" y="13993547"/>
              <a:ext cx="5033486" cy="42957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50"/>
                </a:lnSpc>
                <a:buNone/>
              </a:pPr>
              <a:r>
                <a:rPr lang="en-US" sz="2100" dirty="0">
                  <a:solidFill>
                    <a:srgbClr val="454240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보관방법별 텍스트 색상 변경</a:t>
              </a:r>
              <a:endParaRPr lang="en-US" sz="2100" dirty="0"/>
            </a:p>
          </p:txBody>
        </p: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1B998E5E-A751-5D6C-0B41-E3897677E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911" y="2920963"/>
            <a:ext cx="4982268" cy="309193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8A6BE610-3FD8-41BB-DF3F-65F5F08E0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3857" y="7899042"/>
            <a:ext cx="7591967" cy="53644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문제 해결</a:t>
            </a:r>
            <a:endParaRPr lang="en-US" sz="5250" dirty="0"/>
          </a:p>
        </p:txBody>
      </p:sp>
      <p:sp>
        <p:nvSpPr>
          <p:cNvPr id="3" name="Text 1"/>
          <p:cNvSpPr/>
          <p:nvPr/>
        </p:nvSpPr>
        <p:spPr>
          <a:xfrm>
            <a:off x="939522" y="1979773"/>
            <a:ext cx="5368885" cy="671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일반적인 오류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39522" y="3053480"/>
            <a:ext cx="6241375" cy="2842501"/>
          </a:xfrm>
          <a:prstGeom prst="roundRect">
            <a:avLst>
              <a:gd name="adj" fmla="val 3967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70002" y="3083960"/>
            <a:ext cx="6180415" cy="805339"/>
          </a:xfrm>
          <a:prstGeom prst="roundRect">
            <a:avLst>
              <a:gd name="adj" fmla="val 9458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816" y="3227311"/>
            <a:ext cx="402669" cy="5032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8369" y="4157666"/>
            <a:ext cx="4951214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"템플릿 레이어를 찾을 수 없습니다"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238369" y="4737977"/>
            <a:ext cx="5643682" cy="85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b="1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원인: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auto_layer 레이어가 없음</a:t>
            </a:r>
            <a:r>
              <a:rPr lang="en-US" sz="2100" b="1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해결: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일러스트레이터에서 해당 이름의 레이어 생성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7449264" y="3053480"/>
            <a:ext cx="6241494" cy="2842501"/>
          </a:xfrm>
          <a:prstGeom prst="roundRect">
            <a:avLst>
              <a:gd name="adj" fmla="val 3967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479744" y="3083960"/>
            <a:ext cx="6180534" cy="805339"/>
          </a:xfrm>
          <a:prstGeom prst="roundRect">
            <a:avLst>
              <a:gd name="adj" fmla="val 9458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8677" y="3227311"/>
            <a:ext cx="402669" cy="5032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48111" y="4157666"/>
            <a:ext cx="4334113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"상품 그룹을 찾을 수 없습니다"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7748111" y="4737977"/>
            <a:ext cx="5643801" cy="85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b="1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원인: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Product-1, Product-2 등의 그룹이 없음</a:t>
            </a:r>
            <a:r>
              <a:rPr lang="en-US" sz="2100" b="1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해결: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정확한 이름으로 그룹 생성 및 명명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939522" y="6164347"/>
            <a:ext cx="6241375" cy="2842501"/>
          </a:xfrm>
          <a:prstGeom prst="roundRect">
            <a:avLst>
              <a:gd name="adj" fmla="val 3967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970002" y="6194827"/>
            <a:ext cx="6180415" cy="805339"/>
          </a:xfrm>
          <a:prstGeom prst="roundRect">
            <a:avLst>
              <a:gd name="adj" fmla="val 9458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816" y="6338179"/>
            <a:ext cx="402669" cy="50327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8369" y="7268534"/>
            <a:ext cx="4642604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"이미지 폴더를 찾을 수 없습니다"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1238369" y="7848845"/>
            <a:ext cx="5643682" cy="85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b="1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원인: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img 폴더가 상위 디렉토리에 없음</a:t>
            </a:r>
            <a:r>
              <a:rPr lang="en-US" sz="2100" b="1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해결: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올바른 폴더 구조로 재구성</a:t>
            </a:r>
            <a:endParaRPr lang="en-US" sz="2100" dirty="0"/>
          </a:p>
        </p:txBody>
      </p:sp>
      <p:sp>
        <p:nvSpPr>
          <p:cNvPr id="19" name="Shape 14"/>
          <p:cNvSpPr/>
          <p:nvPr/>
        </p:nvSpPr>
        <p:spPr>
          <a:xfrm>
            <a:off x="7449264" y="6164347"/>
            <a:ext cx="6241494" cy="2842501"/>
          </a:xfrm>
          <a:prstGeom prst="roundRect">
            <a:avLst>
              <a:gd name="adj" fmla="val 3967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7479744" y="6194827"/>
            <a:ext cx="6180534" cy="805339"/>
          </a:xfrm>
          <a:prstGeom prst="roundRect">
            <a:avLst>
              <a:gd name="adj" fmla="val 9458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8677" y="6338179"/>
            <a:ext cx="402669" cy="50327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48111" y="7268534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"메인 이미지 연결 실패"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7748111" y="7848845"/>
            <a:ext cx="5643801" cy="85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b="1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원인: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클리핑 그룹 설정 오류 또는 이미지 파일 없음</a:t>
            </a:r>
            <a:r>
              <a:rPr lang="en-US" sz="2100" b="1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해결: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클리핑 그룹 확인 및 이미지 파일명 검증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939522" y="9577158"/>
            <a:ext cx="5368885" cy="671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성능 최적화 팁</a:t>
            </a:r>
            <a:endParaRPr lang="en-US" sz="4200" dirty="0"/>
          </a:p>
        </p:txBody>
      </p:sp>
      <p:sp>
        <p:nvSpPr>
          <p:cNvPr id="25" name="Text 19"/>
          <p:cNvSpPr/>
          <p:nvPr/>
        </p:nvSpPr>
        <p:spPr>
          <a:xfrm>
            <a:off x="939522" y="10516562"/>
            <a:ext cx="7388781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Font typeface="+mj-lt"/>
              <a:buAutoNum type="arabicPeriod"/>
            </a:pPr>
            <a:r>
              <a:rPr lang="en-US" sz="2100" b="1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이미지 크기: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적절한 해상도로 사전 최적화</a:t>
            </a:r>
            <a:endParaRPr lang="en-US" sz="2100" dirty="0"/>
          </a:p>
        </p:txBody>
      </p:sp>
      <p:sp>
        <p:nvSpPr>
          <p:cNvPr id="26" name="Text 20"/>
          <p:cNvSpPr/>
          <p:nvPr/>
        </p:nvSpPr>
        <p:spPr>
          <a:xfrm>
            <a:off x="939522" y="11040080"/>
            <a:ext cx="7388781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Font typeface="+mj-lt"/>
              <a:buAutoNum type="arabicPeriod" startAt="2"/>
            </a:pPr>
            <a:r>
              <a:rPr lang="en-US" sz="2100" b="1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CSV 정리: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불필요한 공백 및 특수문자 제거</a:t>
            </a:r>
            <a:endParaRPr lang="en-US" sz="2100" dirty="0"/>
          </a:p>
        </p:txBody>
      </p:sp>
      <p:sp>
        <p:nvSpPr>
          <p:cNvPr id="27" name="Text 21"/>
          <p:cNvSpPr/>
          <p:nvPr/>
        </p:nvSpPr>
        <p:spPr>
          <a:xfrm>
            <a:off x="939522" y="11563598"/>
            <a:ext cx="7388781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Font typeface="+mj-lt"/>
              <a:buAutoNum type="arabicPeriod" startAt="3"/>
            </a:pPr>
            <a:r>
              <a:rPr lang="en-US" sz="2100" b="1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레이어 구조: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단순하고 명확한 구조 유지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6DE2A-148B-4F21-87A0-AD28E7C8A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F19A2C-2FA2-10C5-9335-C84D8C9AE63A}"/>
              </a:ext>
            </a:extLst>
          </p:cNvPr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Only-DanGGA 사용 </a:t>
            </a: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방법</a:t>
            </a:r>
            <a:endParaRPr lang="en-US" sz="52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F3614B3-5AEE-1578-C2CC-882599D03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22" y="2113957"/>
            <a:ext cx="1342192" cy="25936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E7F7897-EEEB-9D7D-D524-ED42B72D2117}"/>
              </a:ext>
            </a:extLst>
          </p:cNvPr>
          <p:cNvSpPr/>
          <p:nvPr/>
        </p:nvSpPr>
        <p:spPr>
          <a:xfrm>
            <a:off x="2550081" y="2382324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1. 스크립트 실행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BAF99CB-6D8D-DC64-48A1-10AF97D80AC6}"/>
              </a:ext>
            </a:extLst>
          </p:cNvPr>
          <p:cNvSpPr/>
          <p:nvPr/>
        </p:nvSpPr>
        <p:spPr>
          <a:xfrm>
            <a:off x="2550081" y="2962635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350"/>
              </a:lnSpc>
              <a:buSzPct val="100000"/>
            </a:pP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1) </a:t>
            </a:r>
            <a:r>
              <a:rPr lang="ko-KR" alt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일러스트 스크립트 설치경로에 </a:t>
            </a:r>
            <a:r>
              <a:rPr lang="en-US" altLang="ko-KR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Only-DanGGA.jsx </a:t>
            </a:r>
            <a:r>
              <a:rPr lang="ko-KR" alt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파일 추가</a:t>
            </a:r>
            <a:endParaRPr lang="en-US" sz="21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2F9B4D2-9B72-76E9-4CB6-93BBB2AC45E5}"/>
              </a:ext>
            </a:extLst>
          </p:cNvPr>
          <p:cNvSpPr/>
          <p:nvPr/>
        </p:nvSpPr>
        <p:spPr>
          <a:xfrm>
            <a:off x="2550081" y="4876606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Font typeface="+mj-lt"/>
              <a:buAutoNum type="arabicPeriod" startAt="2"/>
            </a:pPr>
            <a:r>
              <a:rPr lang="ko-KR" alt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일러스트 재실행 및 파일을 열지 않은 상태를 유지</a:t>
            </a:r>
            <a:endParaRPr lang="en-US" altLang="ko-KR" sz="2100">
              <a:solidFill>
                <a:srgbClr val="45424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342900" indent="-342900">
              <a:lnSpc>
                <a:spcPts val="3350"/>
              </a:lnSpc>
              <a:buSzPct val="100000"/>
              <a:buFont typeface="+mj-lt"/>
              <a:buAutoNum type="arabicPeriod" startAt="2"/>
            </a:pP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파일 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&gt; 스크립트 </a:t>
            </a: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&gt; Only</a:t>
            </a:r>
            <a:r>
              <a:rPr lang="en-US" altLang="ko-KR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-DanGGA  선택</a:t>
            </a:r>
            <a:endParaRPr lang="en-US" altLang="ko-KR" sz="2100"/>
          </a:p>
          <a:p>
            <a:pPr marL="342900" indent="-342900" algn="l">
              <a:lnSpc>
                <a:spcPts val="3350"/>
              </a:lnSpc>
              <a:buSzPct val="100000"/>
              <a:buFont typeface="+mj-lt"/>
              <a:buAutoNum type="arabicPeriod" startAt="2"/>
            </a:pPr>
            <a:endParaRPr lang="en-US" sz="2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11510AE-3769-F42A-18F1-C3EC6B8D868F}"/>
              </a:ext>
            </a:extLst>
          </p:cNvPr>
          <p:cNvSpPr/>
          <p:nvPr/>
        </p:nvSpPr>
        <p:spPr>
          <a:xfrm>
            <a:off x="2080260" y="7435266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Font typeface="+mj-lt"/>
              <a:buAutoNum type="arabicPeriod" startAt="3"/>
            </a:pPr>
            <a:endParaRPr lang="en-US" sz="2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9968E3-E445-A856-C074-F59FAB6CAF34}"/>
              </a:ext>
            </a:extLst>
          </p:cNvPr>
          <p:cNvSpPr txBox="1"/>
          <p:nvPr/>
        </p:nvSpPr>
        <p:spPr>
          <a:xfrm>
            <a:off x="2724150" y="3534136"/>
            <a:ext cx="8191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C:\Program Files\Adobe\Adobe Illustrator 2025\Presets\en_US\Scripts</a:t>
            </a:r>
            <a:br>
              <a:rPr lang="en-US" altLang="ko-KR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일러스트 버전과 언어별 경로 차이 있음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DC4F7A-8A33-67F5-C33B-EFC14AEEF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081" y="6002323"/>
            <a:ext cx="9784416" cy="10231988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BEE4D48E-FEFC-9105-0E8B-9909873B3182}"/>
              </a:ext>
            </a:extLst>
          </p:cNvPr>
          <p:cNvSpPr/>
          <p:nvPr/>
        </p:nvSpPr>
        <p:spPr>
          <a:xfrm>
            <a:off x="7505700" y="13422218"/>
            <a:ext cx="2400300" cy="304561"/>
          </a:xfrm>
          <a:prstGeom prst="rect">
            <a:avLst/>
          </a:prstGeom>
          <a:noFill/>
          <a:ln w="76200">
            <a:solidFill>
              <a:srgbClr val="FBE9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188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1C60D-1DA8-28E2-E6A5-06D1ED5F5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21D5BB-C704-7369-FE25-D97FF271B6E0}"/>
              </a:ext>
            </a:extLst>
          </p:cNvPr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Only-DanGGA 사용 </a:t>
            </a: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방법</a:t>
            </a:r>
            <a:endParaRPr lang="en-US" sz="52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D26032BF-C404-EF27-8861-62B01E222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22" y="1964416"/>
            <a:ext cx="1342192" cy="207014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612C0DD1-2A5E-4EFB-EE78-343783949DA3}"/>
              </a:ext>
            </a:extLst>
          </p:cNvPr>
          <p:cNvSpPr/>
          <p:nvPr/>
        </p:nvSpPr>
        <p:spPr>
          <a:xfrm>
            <a:off x="2550081" y="2259395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2. CSV 파일 선택</a:t>
            </a:r>
            <a:endParaRPr lang="en-US" sz="2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397D91D-9206-92D8-22C5-D3204EC30388}"/>
              </a:ext>
            </a:extLst>
          </p:cNvPr>
          <p:cNvSpPr/>
          <p:nvPr/>
        </p:nvSpPr>
        <p:spPr>
          <a:xfrm>
            <a:off x="2550081" y="2813095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파일 선택 대화상자에서 CSV 파일 선택</a:t>
            </a:r>
            <a:endParaRPr lang="en-US" sz="21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9EC2350-EA50-D1F0-B9D7-62039482B2FC}"/>
              </a:ext>
            </a:extLst>
          </p:cNvPr>
          <p:cNvSpPr/>
          <p:nvPr/>
        </p:nvSpPr>
        <p:spPr>
          <a:xfrm>
            <a:off x="2550081" y="8938374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csv </a:t>
            </a:r>
            <a:r>
              <a:rPr lang="ko-KR" alt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파일 </a:t>
            </a:r>
            <a:r>
              <a:rPr 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헤더 </a:t>
            </a:r>
            <a:r>
              <a:rPr lang="en-US" sz="2100" dirty="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자동 감지 및 검증</a:t>
            </a:r>
            <a:endParaRPr lang="en-US" sz="21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3632A0E-D869-549B-AAE6-FED3588FD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774" y="3403647"/>
            <a:ext cx="10153650" cy="51244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B291C8C-E7AF-CB63-15CF-D06E91FB3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3773" y="9531430"/>
            <a:ext cx="4358223" cy="247182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C28C754-6626-19B9-5A6A-BDBFD149B4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3774" y="13676266"/>
            <a:ext cx="3533775" cy="3600450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894290B2-3560-692F-5E59-486C66EF7A6E}"/>
              </a:ext>
            </a:extLst>
          </p:cNvPr>
          <p:cNvSpPr/>
          <p:nvPr/>
        </p:nvSpPr>
        <p:spPr>
          <a:xfrm>
            <a:off x="2550081" y="13031899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2100">
                <a:solidFill>
                  <a:srgbClr val="4542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디자인 완료된 일러스트 파일의 폴더 선택</a:t>
            </a:r>
            <a:endParaRPr lang="en-US" sz="21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E2A49DAE-CAF4-7347-FBAE-7E7BEC0939EB}"/>
              </a:ext>
            </a:extLst>
          </p:cNvPr>
          <p:cNvSpPr/>
          <p:nvPr/>
        </p:nvSpPr>
        <p:spPr>
          <a:xfrm>
            <a:off x="2550081" y="12607441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3</a:t>
            </a:r>
            <a:r>
              <a:rPr 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. </a:t>
            </a:r>
            <a:r>
              <a:rPr lang="ko-KR" alt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일러스트 작업파일 폴더 선택</a:t>
            </a:r>
            <a:endParaRPr lang="en-US" sz="26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26977DB-9ABE-EC76-2957-DCB1EB52AC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7110" y="17528192"/>
            <a:ext cx="2763175" cy="241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67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DFDB-D10A-B931-D94C-408FF1A3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62D3501-C3C8-EA30-49F6-6019EA8A3CE7}"/>
              </a:ext>
            </a:extLst>
          </p:cNvPr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600"/>
              </a:lnSpc>
            </a:pPr>
            <a:r>
              <a:rPr lang="en-US" altLang="ko-KR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Only-DanGGA </a:t>
            </a:r>
            <a:r>
              <a:rPr lang="en-US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사용 </a:t>
            </a: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방법</a:t>
            </a:r>
            <a:endParaRPr lang="en-US" sz="52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75F4D7EF-8F17-DCB2-BBA5-2281AA1AA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22" y="1964416"/>
            <a:ext cx="1342192" cy="207014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FB15F905-47C9-C4EC-8ECE-BA48CEA8D5FD}"/>
              </a:ext>
            </a:extLst>
          </p:cNvPr>
          <p:cNvSpPr/>
          <p:nvPr/>
        </p:nvSpPr>
        <p:spPr>
          <a:xfrm>
            <a:off x="2550081" y="2259395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4</a:t>
            </a:r>
            <a:r>
              <a:rPr 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. </a:t>
            </a:r>
            <a:r>
              <a:rPr lang="ko-KR" alt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적용할 일러스트 파일 선택</a:t>
            </a:r>
            <a:endParaRPr lang="en-US" sz="2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AC02A07-F807-706A-8050-8A2DE1DC97D5}"/>
              </a:ext>
            </a:extLst>
          </p:cNvPr>
          <p:cNvSpPr/>
          <p:nvPr/>
        </p:nvSpPr>
        <p:spPr>
          <a:xfrm>
            <a:off x="2550081" y="2813095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en-US" sz="2100"/>
              <a:t>CSV</a:t>
            </a:r>
            <a:r>
              <a:rPr lang="ko-KR" altLang="en-US" sz="2100"/>
              <a:t>에 존재하는 페이지 </a:t>
            </a:r>
            <a:r>
              <a:rPr lang="en-US" altLang="ko-KR" sz="2100"/>
              <a:t>: CSV</a:t>
            </a:r>
            <a:r>
              <a:rPr lang="ko-KR" altLang="en-US" sz="2100"/>
              <a:t>파일에 페이지란에 작성된 파일만 선별</a:t>
            </a:r>
            <a:r>
              <a:rPr lang="en-US" altLang="ko-KR" sz="2100"/>
              <a:t>. </a:t>
            </a:r>
          </a:p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2100"/>
              <a:t>일러스트 파일명 앞에 </a:t>
            </a:r>
            <a:r>
              <a:rPr lang="en-US" altLang="ko-KR" sz="2100"/>
              <a:t>00p_ </a:t>
            </a:r>
            <a:r>
              <a:rPr lang="ko-KR" altLang="en-US" sz="2100"/>
              <a:t>필수</a:t>
            </a:r>
          </a:p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2100"/>
              <a:t>키보드 </a:t>
            </a:r>
            <a:r>
              <a:rPr lang="en-US" altLang="ko-KR" sz="2100"/>
              <a:t>shift, ctrl </a:t>
            </a:r>
            <a:r>
              <a:rPr lang="ko-KR" altLang="en-US" sz="2100"/>
              <a:t>키 통해 부분 선택 가능</a:t>
            </a:r>
            <a:endParaRPr lang="en-US" altLang="ko-KR" sz="2100"/>
          </a:p>
          <a:p>
            <a:pPr marL="342900" indent="-342900" algn="l">
              <a:lnSpc>
                <a:spcPts val="3350"/>
              </a:lnSpc>
              <a:buSzPct val="100000"/>
              <a:buChar char="•"/>
            </a:pPr>
            <a:endParaRPr lang="en-US" sz="21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870D00-630F-FA1C-E0D9-41ECB7FE3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04" y="4478665"/>
            <a:ext cx="7029325" cy="759824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C02561C-E0DE-19F7-B1E1-AB3A5E5A8CBE}"/>
              </a:ext>
            </a:extLst>
          </p:cNvPr>
          <p:cNvSpPr txBox="1"/>
          <p:nvPr/>
        </p:nvSpPr>
        <p:spPr>
          <a:xfrm>
            <a:off x="2550081" y="12849877"/>
            <a:ext cx="3589462" cy="47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en-US" altLang="ko-KR" sz="1800"/>
              <a:t>Shift </a:t>
            </a:r>
            <a:r>
              <a:rPr lang="ko-KR" altLang="en-US" sz="1800"/>
              <a:t>키로 범위 선택 예시</a:t>
            </a:r>
            <a:endParaRPr lang="en-US" altLang="ko-KR" sz="180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467379EE-28E1-E7C8-7387-0F2A4CCF83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0081" y="13443292"/>
            <a:ext cx="3944860" cy="426413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B97AB08-0B27-430F-534F-8E5D075500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5390" y="13443293"/>
            <a:ext cx="3944860" cy="426413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6A346DF-6DDC-8F53-CCD0-89E46B47843C}"/>
              </a:ext>
            </a:extLst>
          </p:cNvPr>
          <p:cNvSpPr txBox="1"/>
          <p:nvPr/>
        </p:nvSpPr>
        <p:spPr>
          <a:xfrm>
            <a:off x="6755390" y="12849877"/>
            <a:ext cx="3589462" cy="47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en-US" altLang="ko-KR" sz="1800"/>
              <a:t>ctrl </a:t>
            </a:r>
            <a:r>
              <a:rPr lang="ko-KR" altLang="en-US" sz="1800"/>
              <a:t>키로 </a:t>
            </a:r>
            <a:r>
              <a:rPr lang="ko-KR" altLang="en-US"/>
              <a:t>부분</a:t>
            </a:r>
            <a:r>
              <a:rPr lang="ko-KR" altLang="en-US" sz="1800"/>
              <a:t> 선택 예시</a:t>
            </a:r>
            <a:endParaRPr lang="en-US" altLang="ko-KR" sz="1800"/>
          </a:p>
        </p:txBody>
      </p:sp>
    </p:spTree>
    <p:extLst>
      <p:ext uri="{BB962C8B-B14F-4D97-AF65-F5344CB8AC3E}">
        <p14:creationId xmlns:p14="http://schemas.microsoft.com/office/powerpoint/2010/main" val="3722139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C22CE-3911-15C1-FA75-E19CE2E57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F789EF-C6A9-674F-A60F-C801A49059B7}"/>
              </a:ext>
            </a:extLst>
          </p:cNvPr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600"/>
              </a:lnSpc>
            </a:pPr>
            <a:r>
              <a:rPr lang="en-US" altLang="ko-KR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Only-DanGGA </a:t>
            </a:r>
            <a:r>
              <a:rPr lang="en-US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사용 </a:t>
            </a: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방법</a:t>
            </a:r>
            <a:endParaRPr lang="en-US" sz="52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1C2648B6-DF6A-1221-5408-64689263F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22" y="1964416"/>
            <a:ext cx="1342192" cy="207014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BBB46FF5-3BD4-F1C5-2051-A45FAB01C340}"/>
              </a:ext>
            </a:extLst>
          </p:cNvPr>
          <p:cNvSpPr/>
          <p:nvPr/>
        </p:nvSpPr>
        <p:spPr>
          <a:xfrm>
            <a:off x="2550081" y="2259395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5. </a:t>
            </a:r>
            <a:r>
              <a:rPr lang="ko-KR" alt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처리 결과</a:t>
            </a:r>
            <a:endParaRPr lang="en-US" sz="2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88A671F-3C8B-A707-2E2C-C3A9F51C3EBE}"/>
              </a:ext>
            </a:extLst>
          </p:cNvPr>
          <p:cNvSpPr/>
          <p:nvPr/>
        </p:nvSpPr>
        <p:spPr>
          <a:xfrm>
            <a:off x="2550081" y="2813095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2100"/>
              <a:t>실행 시 선택한 일러스트 파일을 열고 가격 수정 후 닫기가 반복됨</a:t>
            </a:r>
            <a:endParaRPr lang="en-US" altLang="ko-KR" sz="2100"/>
          </a:p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2100"/>
              <a:t>처리결과</a:t>
            </a:r>
            <a:endParaRPr lang="en-US" sz="21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99BC46-671E-810A-6149-052190393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081" y="4034557"/>
            <a:ext cx="8519628" cy="680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52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28E7-1A2E-F2A9-8CE9-7671DF552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BA50ED-2F6C-4D56-C15E-6FA3879723DE}"/>
              </a:ext>
            </a:extLst>
          </p:cNvPr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600"/>
              </a:lnSpc>
            </a:pPr>
            <a:r>
              <a:rPr lang="en-US" altLang="ko-KR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PDMS </a:t>
            </a:r>
            <a:r>
              <a:rPr lang="en-US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사용 </a:t>
            </a: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방법</a:t>
            </a:r>
            <a:endParaRPr lang="en-US" sz="52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994911E2-D4B1-6D35-3F5C-288AFA869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22" y="1964416"/>
            <a:ext cx="1342192" cy="207014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AFBFB6E6-3CFA-7E80-FC61-3AABC0BBE2F8}"/>
              </a:ext>
            </a:extLst>
          </p:cNvPr>
          <p:cNvSpPr/>
          <p:nvPr/>
        </p:nvSpPr>
        <p:spPr>
          <a:xfrm>
            <a:off x="2550081" y="2259395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1. </a:t>
            </a:r>
            <a:r>
              <a:rPr lang="ko-KR" alt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실행</a:t>
            </a:r>
            <a:endParaRPr lang="en-US" sz="2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28B9C87-242D-239D-8311-EEAAF49E5782}"/>
              </a:ext>
            </a:extLst>
          </p:cNvPr>
          <p:cNvSpPr/>
          <p:nvPr/>
        </p:nvSpPr>
        <p:spPr>
          <a:xfrm>
            <a:off x="2550081" y="2813095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2100"/>
              <a:t>제공된 </a:t>
            </a:r>
            <a:r>
              <a:rPr lang="en-US" altLang="ko-KR" sz="2100"/>
              <a:t>‘</a:t>
            </a:r>
            <a:r>
              <a:rPr lang="ko-KR" altLang="en-US" sz="2100"/>
              <a:t>상품</a:t>
            </a:r>
            <a:r>
              <a:rPr lang="en-US" altLang="ko-KR" sz="2100"/>
              <a:t>_</a:t>
            </a:r>
            <a:r>
              <a:rPr lang="ko-KR" altLang="en-US" sz="2100"/>
              <a:t>데이터</a:t>
            </a:r>
            <a:r>
              <a:rPr lang="en-US" altLang="ko-KR" sz="2100"/>
              <a:t>_</a:t>
            </a:r>
            <a:r>
              <a:rPr lang="ko-KR" altLang="en-US" sz="2100"/>
              <a:t>관리</a:t>
            </a:r>
            <a:r>
              <a:rPr lang="en-US" altLang="ko-KR" sz="2100"/>
              <a:t>_</a:t>
            </a:r>
            <a:r>
              <a:rPr lang="ko-KR" altLang="en-US" sz="2100"/>
              <a:t>시스템</a:t>
            </a:r>
            <a:r>
              <a:rPr lang="en-US" altLang="ko-KR" sz="2100"/>
              <a:t>.exe’ </a:t>
            </a:r>
            <a:r>
              <a:rPr lang="ko-KR" altLang="en-US" sz="2100"/>
              <a:t>프로그램 실행</a:t>
            </a:r>
            <a:endParaRPr lang="en-US" sz="21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D54F96-EECD-6375-CE4B-00E26B67CA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9512"/>
          <a:stretch>
            <a:fillRect/>
          </a:stretch>
        </p:blipFill>
        <p:spPr>
          <a:xfrm>
            <a:off x="2678339" y="3488457"/>
            <a:ext cx="10587718" cy="428212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878B2C7-6415-9233-EB2F-B81A2C319622}"/>
              </a:ext>
            </a:extLst>
          </p:cNvPr>
          <p:cNvSpPr/>
          <p:nvPr/>
        </p:nvSpPr>
        <p:spPr>
          <a:xfrm>
            <a:off x="5720120" y="6631346"/>
            <a:ext cx="2400300" cy="424411"/>
          </a:xfrm>
          <a:prstGeom prst="rect">
            <a:avLst/>
          </a:prstGeom>
          <a:noFill/>
          <a:ln w="76200">
            <a:solidFill>
              <a:srgbClr val="FBE9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9BC2E5F-3284-B4AE-A5D9-91340F8D7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522" y="9024923"/>
            <a:ext cx="12326535" cy="7171243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BF72BFBE-9F2F-C3B1-CDE0-1B850827E4AB}"/>
              </a:ext>
            </a:extLst>
          </p:cNvPr>
          <p:cNvSpPr/>
          <p:nvPr/>
        </p:nvSpPr>
        <p:spPr>
          <a:xfrm>
            <a:off x="1000570" y="7993810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2. </a:t>
            </a:r>
            <a:r>
              <a:rPr lang="ko-KR" alt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데이터 일괄입력</a:t>
            </a:r>
            <a:endParaRPr lang="en-US" sz="26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A6973D0F-164C-7C17-69B9-001F79331CFB}"/>
              </a:ext>
            </a:extLst>
          </p:cNvPr>
          <p:cNvSpPr/>
          <p:nvPr/>
        </p:nvSpPr>
        <p:spPr>
          <a:xfrm>
            <a:off x="1000570" y="8547510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2100"/>
              <a:t>우측 상단 </a:t>
            </a:r>
            <a:r>
              <a:rPr lang="en-US" altLang="ko-KR" sz="2100"/>
              <a:t>‘</a:t>
            </a:r>
            <a:r>
              <a:rPr lang="ko-KR" altLang="en-US" sz="2100"/>
              <a:t>데이터 입력</a:t>
            </a:r>
            <a:r>
              <a:rPr lang="en-US" altLang="ko-KR" sz="2100"/>
              <a:t>‘ </a:t>
            </a:r>
            <a:r>
              <a:rPr lang="ko-KR" altLang="en-US" sz="2100"/>
              <a:t>버튼 클릭</a:t>
            </a:r>
            <a:endParaRPr lang="en-US" sz="21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A878BFD-901F-E3F8-A867-BF524CAD487E}"/>
              </a:ext>
            </a:extLst>
          </p:cNvPr>
          <p:cNvSpPr/>
          <p:nvPr/>
        </p:nvSpPr>
        <p:spPr>
          <a:xfrm>
            <a:off x="10646450" y="9294222"/>
            <a:ext cx="1137880" cy="424411"/>
          </a:xfrm>
          <a:prstGeom prst="rect">
            <a:avLst/>
          </a:prstGeom>
          <a:noFill/>
          <a:ln w="76200">
            <a:solidFill>
              <a:srgbClr val="FBE9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25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10519-02BB-239A-82F2-36CEC4563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16F763-B3BE-A9D2-5C12-2F9918598F97}"/>
              </a:ext>
            </a:extLst>
          </p:cNvPr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600"/>
              </a:lnSpc>
            </a:pPr>
            <a:r>
              <a:rPr lang="en-US" altLang="ko-KR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PDMS </a:t>
            </a:r>
            <a:r>
              <a:rPr lang="en-US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사용 </a:t>
            </a: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방법</a:t>
            </a:r>
            <a:endParaRPr lang="en-US" sz="52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EA4D2D47-C6F1-CB84-C422-0CE7B245D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22" y="1964416"/>
            <a:ext cx="1342192" cy="207014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2457CB36-2DB7-2ECB-C5D6-DBADF3E61982}"/>
              </a:ext>
            </a:extLst>
          </p:cNvPr>
          <p:cNvSpPr/>
          <p:nvPr/>
        </p:nvSpPr>
        <p:spPr>
          <a:xfrm>
            <a:off x="2550081" y="2259395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3. </a:t>
            </a:r>
            <a:r>
              <a:rPr lang="en-US" altLang="ko-KR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csv </a:t>
            </a:r>
            <a:r>
              <a:rPr lang="ko-KR" alt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파일 선택 및 입력</a:t>
            </a:r>
            <a:endParaRPr lang="en-US" sz="2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29ACE96-A4AC-EE66-D07A-20DC1843BFB9}"/>
              </a:ext>
            </a:extLst>
          </p:cNvPr>
          <p:cNvSpPr/>
          <p:nvPr/>
        </p:nvSpPr>
        <p:spPr>
          <a:xfrm>
            <a:off x="2550081" y="2813095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en-US" sz="2100"/>
              <a:t>Auto-DanGGA</a:t>
            </a:r>
            <a:r>
              <a:rPr lang="ko-KR" altLang="en-US" sz="2100"/>
              <a:t>에 사용한 </a:t>
            </a:r>
            <a:r>
              <a:rPr lang="en-US" altLang="ko-KR" sz="2100"/>
              <a:t>csv </a:t>
            </a:r>
            <a:r>
              <a:rPr lang="ko-KR" altLang="en-US" sz="2100"/>
              <a:t>파일을 선택</a:t>
            </a:r>
            <a:endParaRPr lang="en-US" sz="21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D8C9F8-9ACD-D3E1-4175-A3DEBA575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081" y="3528899"/>
            <a:ext cx="4781550" cy="375285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7A699CE-7387-8853-A8B2-B2F85DF187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060" r="26160" b="50000"/>
          <a:stretch>
            <a:fillRect/>
          </a:stretch>
        </p:blipFill>
        <p:spPr>
          <a:xfrm>
            <a:off x="7650599" y="3528898"/>
            <a:ext cx="5965398" cy="375284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21EBE67-28EB-BFC7-EC99-8B9A950BD6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0081" y="7461816"/>
            <a:ext cx="3833031" cy="2669155"/>
          </a:xfrm>
          <a:prstGeom prst="rect">
            <a:avLst/>
          </a:prstGeom>
        </p:spPr>
      </p:pic>
      <p:sp>
        <p:nvSpPr>
          <p:cNvPr id="18" name="Text 6">
            <a:extLst>
              <a:ext uri="{FF2B5EF4-FFF2-40B4-BE49-F238E27FC236}">
                <a16:creationId xmlns:a16="http://schemas.microsoft.com/office/drawing/2014/main" id="{763BF57A-2E68-06B6-529A-93C933F344F8}"/>
              </a:ext>
            </a:extLst>
          </p:cNvPr>
          <p:cNvSpPr/>
          <p:nvPr/>
        </p:nvSpPr>
        <p:spPr>
          <a:xfrm>
            <a:off x="2550081" y="10821251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2100"/>
              <a:t>입력이 완료되면 아래와 같이 </a:t>
            </a:r>
            <a:r>
              <a:rPr lang="en-US" altLang="ko-KR" sz="2100"/>
              <a:t>csv </a:t>
            </a:r>
            <a:r>
              <a:rPr lang="ko-KR" altLang="en-US" sz="2100"/>
              <a:t>파일의 상품 리스트를 표시</a:t>
            </a:r>
            <a:endParaRPr lang="en-US" sz="21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241C4A1-13E7-0070-851F-CBF5A17B0F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0081" y="11430607"/>
            <a:ext cx="11140678" cy="648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75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05BAA-4850-E2BC-2C9C-C1C891E0B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39B04C-38B0-8745-884B-5CAF240DCB22}"/>
              </a:ext>
            </a:extLst>
          </p:cNvPr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600"/>
              </a:lnSpc>
            </a:pPr>
            <a:r>
              <a:rPr lang="en-US" altLang="ko-KR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PDMS </a:t>
            </a:r>
            <a:r>
              <a:rPr lang="en-US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사용 </a:t>
            </a: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방법</a:t>
            </a:r>
            <a:endParaRPr lang="en-US" sz="52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09076B8-20F8-4027-A412-459068141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22" y="1964416"/>
            <a:ext cx="1342192" cy="207014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952DEF84-6C62-F359-478B-C2C578F74300}"/>
              </a:ext>
            </a:extLst>
          </p:cNvPr>
          <p:cNvSpPr/>
          <p:nvPr/>
        </p:nvSpPr>
        <p:spPr>
          <a:xfrm>
            <a:off x="2550081" y="2259395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3. </a:t>
            </a:r>
            <a:r>
              <a:rPr lang="en-US" altLang="ko-KR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csv </a:t>
            </a:r>
            <a:r>
              <a:rPr lang="ko-KR" alt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파일 선택 및 입력</a:t>
            </a:r>
            <a:endParaRPr lang="en-US" sz="2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E47860F-CE90-5A78-E872-6C9B2E81D8F1}"/>
              </a:ext>
            </a:extLst>
          </p:cNvPr>
          <p:cNvSpPr/>
          <p:nvPr/>
        </p:nvSpPr>
        <p:spPr>
          <a:xfrm>
            <a:off x="2550081" y="2813095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en-US" sz="2100"/>
              <a:t>Auto-DanGGA</a:t>
            </a:r>
            <a:r>
              <a:rPr lang="ko-KR" altLang="en-US" sz="2100"/>
              <a:t>에 사용한 </a:t>
            </a:r>
            <a:r>
              <a:rPr lang="en-US" altLang="ko-KR" sz="2100"/>
              <a:t>csv </a:t>
            </a:r>
            <a:r>
              <a:rPr lang="ko-KR" altLang="en-US" sz="2100"/>
              <a:t>파일을 선택</a:t>
            </a:r>
            <a:endParaRPr lang="en-US" sz="21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B784B2-8592-9E94-FA65-06FF58DAA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081" y="3528899"/>
            <a:ext cx="4781550" cy="375285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9255AD1-DA32-6588-0714-BB53E81FFC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060" r="26160" b="50000"/>
          <a:stretch>
            <a:fillRect/>
          </a:stretch>
        </p:blipFill>
        <p:spPr>
          <a:xfrm>
            <a:off x="7650599" y="3528898"/>
            <a:ext cx="5965398" cy="375284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8DD13E1-F482-0BE1-9B13-38FB473C40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0081" y="7461816"/>
            <a:ext cx="3833031" cy="2669155"/>
          </a:xfrm>
          <a:prstGeom prst="rect">
            <a:avLst/>
          </a:prstGeom>
        </p:spPr>
      </p:pic>
      <p:sp>
        <p:nvSpPr>
          <p:cNvPr id="18" name="Text 6">
            <a:extLst>
              <a:ext uri="{FF2B5EF4-FFF2-40B4-BE49-F238E27FC236}">
                <a16:creationId xmlns:a16="http://schemas.microsoft.com/office/drawing/2014/main" id="{4F472FD5-5813-C3F5-18D4-7EB1531BCAFC}"/>
              </a:ext>
            </a:extLst>
          </p:cNvPr>
          <p:cNvSpPr/>
          <p:nvPr/>
        </p:nvSpPr>
        <p:spPr>
          <a:xfrm>
            <a:off x="2550081" y="10821251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2100"/>
              <a:t>입력이 완료되면 아래와 같이 </a:t>
            </a:r>
            <a:r>
              <a:rPr lang="en-US" altLang="ko-KR" sz="2100"/>
              <a:t>csv </a:t>
            </a:r>
            <a:r>
              <a:rPr lang="ko-KR" altLang="en-US" sz="2100"/>
              <a:t>파일의 상품 리스트를 표시</a:t>
            </a:r>
            <a:endParaRPr lang="en-US" sz="21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C811406-0685-5140-9C3B-F91559D541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0081" y="11430607"/>
            <a:ext cx="11140678" cy="648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31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3AFED-D52E-573C-78F9-E5CC828F5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15D8A6-03DC-8DB0-56B1-0EB1C99795E7}"/>
              </a:ext>
            </a:extLst>
          </p:cNvPr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600"/>
              </a:lnSpc>
            </a:pPr>
            <a:r>
              <a:rPr lang="en-US" altLang="ko-KR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PDMS </a:t>
            </a:r>
            <a:r>
              <a:rPr lang="en-US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사용 </a:t>
            </a: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방법</a:t>
            </a:r>
            <a:endParaRPr lang="en-US" sz="52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66C7FC41-44D0-4662-E27E-4BBE7C800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22" y="1964416"/>
            <a:ext cx="1342192" cy="207014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586DDBD1-5156-16A3-5ABD-3AEB226DFBAC}"/>
              </a:ext>
            </a:extLst>
          </p:cNvPr>
          <p:cNvSpPr/>
          <p:nvPr/>
        </p:nvSpPr>
        <p:spPr>
          <a:xfrm>
            <a:off x="2550081" y="2259395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3. </a:t>
            </a:r>
            <a:r>
              <a:rPr lang="ko-KR" alt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이미지 일괄 적용</a:t>
            </a:r>
            <a:endParaRPr lang="en-US" sz="2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A69D505-FA3F-FC5C-03AE-B4B0A069DD8E}"/>
              </a:ext>
            </a:extLst>
          </p:cNvPr>
          <p:cNvSpPr/>
          <p:nvPr/>
        </p:nvSpPr>
        <p:spPr>
          <a:xfrm>
            <a:off x="2550081" y="2813095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2100"/>
              <a:t>메인 이미지와 미니 이미지를 한번에 불러오기 위해 우측 상단 </a:t>
            </a:r>
            <a:r>
              <a:rPr lang="en-US" altLang="ko-KR" sz="2100"/>
              <a:t>‘</a:t>
            </a:r>
            <a:r>
              <a:rPr lang="ko-KR" altLang="en-US" sz="2100"/>
              <a:t>이미지 일괄 적용</a:t>
            </a:r>
            <a:r>
              <a:rPr lang="en-US" altLang="ko-KR" sz="2100"/>
              <a:t>’ </a:t>
            </a:r>
            <a:r>
              <a:rPr lang="ko-KR" altLang="en-US" sz="2100"/>
              <a:t>버튼 클릭</a:t>
            </a:r>
            <a:endParaRPr lang="en-US" sz="21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F36FBEFE-4B13-146C-86EB-7B83F379663D}"/>
              </a:ext>
            </a:extLst>
          </p:cNvPr>
          <p:cNvSpPr/>
          <p:nvPr/>
        </p:nvSpPr>
        <p:spPr>
          <a:xfrm>
            <a:off x="2550081" y="11697551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en-US" sz="2100"/>
              <a:t>‘</a:t>
            </a:r>
            <a:r>
              <a:rPr lang="ko-KR" altLang="en-US" sz="2100"/>
              <a:t>폴더 선택</a:t>
            </a:r>
            <a:r>
              <a:rPr lang="en-US" altLang="ko-KR" sz="2100"/>
              <a:t>‘ </a:t>
            </a:r>
            <a:r>
              <a:rPr lang="ko-KR" altLang="en-US" sz="2100"/>
              <a:t>버튼 클릭하여 이미지를 모아둔 </a:t>
            </a:r>
            <a:r>
              <a:rPr lang="en-US" altLang="ko-KR" sz="2100"/>
              <a:t>img </a:t>
            </a:r>
            <a:r>
              <a:rPr lang="ko-KR" altLang="en-US" sz="2100"/>
              <a:t>폴더 선택</a:t>
            </a:r>
            <a:endParaRPr lang="en-US" sz="21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C42964F-E302-B225-8204-42AF67B6F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081" y="3545811"/>
            <a:ext cx="7389238" cy="770501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2DF9013-D415-E865-2418-834F0C25F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0081" y="12474633"/>
            <a:ext cx="901065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32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4F0A8-C067-5C1A-E556-1F8E07B7F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91A4FF-F087-F299-189A-C179B5EA2C41}"/>
              </a:ext>
            </a:extLst>
          </p:cNvPr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600"/>
              </a:lnSpc>
            </a:pPr>
            <a:r>
              <a:rPr lang="en-US" altLang="ko-KR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PDMS </a:t>
            </a:r>
            <a:r>
              <a:rPr lang="en-US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사용 </a:t>
            </a: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방법</a:t>
            </a:r>
            <a:endParaRPr lang="en-US" sz="52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4B8FAEA9-88D9-B7F7-9597-CF8D6D522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22" y="1964416"/>
            <a:ext cx="1342192" cy="207014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C83D0495-4CC2-0811-CA38-591887FF9AA3}"/>
              </a:ext>
            </a:extLst>
          </p:cNvPr>
          <p:cNvSpPr/>
          <p:nvPr/>
        </p:nvSpPr>
        <p:spPr>
          <a:xfrm>
            <a:off x="2550081" y="2259395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3. </a:t>
            </a:r>
            <a:r>
              <a:rPr lang="ko-KR" alt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이미지 일괄 적용</a:t>
            </a:r>
            <a:endParaRPr lang="en-US" sz="2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0820ED3-0432-A602-260F-BA7D73A67620}"/>
              </a:ext>
            </a:extLst>
          </p:cNvPr>
          <p:cNvSpPr/>
          <p:nvPr/>
        </p:nvSpPr>
        <p:spPr>
          <a:xfrm>
            <a:off x="2550081" y="2813095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2100"/>
              <a:t>매칭 미리보기 창을 통해 확인 후 적용</a:t>
            </a:r>
            <a:endParaRPr lang="en-US" altLang="ko-KR" sz="2100"/>
          </a:p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2100"/>
              <a:t>적용하기 클릭 후 잠시 기다려야 합니다</a:t>
            </a:r>
            <a:r>
              <a:rPr lang="en-US" altLang="ko-KR" sz="2100"/>
              <a:t>.</a:t>
            </a:r>
            <a:endParaRPr lang="en-US" sz="21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FB3A98-C597-4EFC-5B98-14886F7AA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2344" y="3914725"/>
            <a:ext cx="6686550" cy="69723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EC07FD9-0E92-7A0E-E466-EE1D4AADF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9524" y="7752201"/>
            <a:ext cx="3790950" cy="313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822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C2F02-C4B9-D5C7-A273-48C77FF45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8AFACD-D8AF-3C30-1CCA-C5268AE0396A}"/>
              </a:ext>
            </a:extLst>
          </p:cNvPr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600"/>
              </a:lnSpc>
            </a:pPr>
            <a:r>
              <a:rPr lang="en-US" altLang="ko-KR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PDMS </a:t>
            </a:r>
            <a:r>
              <a:rPr lang="en-US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사용 </a:t>
            </a: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방법</a:t>
            </a:r>
            <a:endParaRPr lang="en-US" sz="52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DDDF2D5E-EFBE-0197-F71A-B08EB3400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22" y="1964416"/>
            <a:ext cx="1342192" cy="207014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BD04E399-735A-C9A3-6480-709A41C184A1}"/>
              </a:ext>
            </a:extLst>
          </p:cNvPr>
          <p:cNvSpPr/>
          <p:nvPr/>
        </p:nvSpPr>
        <p:spPr>
          <a:xfrm>
            <a:off x="2550081" y="2259395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4. </a:t>
            </a:r>
            <a:r>
              <a:rPr lang="ko-KR" alt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페이지 구성</a:t>
            </a:r>
            <a:endParaRPr lang="en-US" sz="2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A17D23B-668B-21B6-BF0F-1D6010FE0EF2}"/>
              </a:ext>
            </a:extLst>
          </p:cNvPr>
          <p:cNvSpPr/>
          <p:nvPr/>
        </p:nvSpPr>
        <p:spPr>
          <a:xfrm>
            <a:off x="2550081" y="2813095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2100"/>
              <a:t>책자 페이지 및 상품 순서 변경을 위한 기능</a:t>
            </a:r>
            <a:endParaRPr lang="en-US" altLang="ko-KR" sz="2100"/>
          </a:p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2100"/>
              <a:t>좌측 상단 </a:t>
            </a:r>
            <a:r>
              <a:rPr lang="en-US" altLang="ko-KR" sz="2100"/>
              <a:t>‘</a:t>
            </a:r>
            <a:r>
              <a:rPr lang="ko-KR" altLang="en-US" sz="2100"/>
              <a:t>페이지 구성</a:t>
            </a:r>
            <a:r>
              <a:rPr lang="en-US" altLang="ko-KR" sz="2100"/>
              <a:t>‘ </a:t>
            </a:r>
            <a:r>
              <a:rPr lang="ko-KR" altLang="en-US" sz="2100"/>
              <a:t>클릭</a:t>
            </a:r>
            <a:endParaRPr lang="en-US" sz="21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2CF0B2-43F4-7DBC-FADB-F938D4D3E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081" y="3914725"/>
            <a:ext cx="11728919" cy="68235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7C29BEF-284F-6831-989A-4F25FE86FC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0081" y="11549856"/>
            <a:ext cx="6134100" cy="42100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A146BA8-1775-40D2-BB05-419EA932A17E}"/>
              </a:ext>
            </a:extLst>
          </p:cNvPr>
          <p:cNvSpPr txBox="1"/>
          <p:nvPr/>
        </p:nvSpPr>
        <p:spPr>
          <a:xfrm>
            <a:off x="2444591" y="10905065"/>
            <a:ext cx="7315200" cy="47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1800"/>
              <a:t>페이지 항목의 순자 변경 후 키보드 </a:t>
            </a:r>
            <a:r>
              <a:rPr lang="en-US" altLang="ko-KR" sz="1800"/>
              <a:t>Enter</a:t>
            </a:r>
            <a:r>
              <a:rPr lang="ko-KR" altLang="en-US" sz="1800"/>
              <a:t>키 입력으로 페이지 변경</a:t>
            </a:r>
            <a:endParaRPr lang="en-US" altLang="ko-KR" sz="1800"/>
          </a:p>
        </p:txBody>
      </p:sp>
    </p:spTree>
    <p:extLst>
      <p:ext uri="{BB962C8B-B14F-4D97-AF65-F5344CB8AC3E}">
        <p14:creationId xmlns:p14="http://schemas.microsoft.com/office/powerpoint/2010/main" val="26910805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3B621-674A-9A3D-A79B-4CFB8C817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8F0DED-17F5-82DF-F6AA-673A7D24156B}"/>
              </a:ext>
            </a:extLst>
          </p:cNvPr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600"/>
              </a:lnSpc>
            </a:pPr>
            <a:r>
              <a:rPr lang="en-US" altLang="ko-KR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PDMS </a:t>
            </a:r>
            <a:r>
              <a:rPr lang="en-US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사용 </a:t>
            </a: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방법</a:t>
            </a:r>
            <a:endParaRPr lang="en-US" sz="52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AAF7206D-142C-7F2D-11A8-47CBAC2B9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22" y="1964416"/>
            <a:ext cx="1342192" cy="207014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95371895-E086-5789-A213-33C8A4DCF8B1}"/>
              </a:ext>
            </a:extLst>
          </p:cNvPr>
          <p:cNvSpPr/>
          <p:nvPr/>
        </p:nvSpPr>
        <p:spPr>
          <a:xfrm>
            <a:off x="2550081" y="2259395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4. </a:t>
            </a:r>
            <a:r>
              <a:rPr lang="ko-KR" alt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페이지 구성</a:t>
            </a:r>
            <a:endParaRPr lang="en-US" sz="2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53C2641-DF92-A5C2-FDE7-2A19B87DDB17}"/>
              </a:ext>
            </a:extLst>
          </p:cNvPr>
          <p:cNvSpPr/>
          <p:nvPr/>
        </p:nvSpPr>
        <p:spPr>
          <a:xfrm>
            <a:off x="2550081" y="2813095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2100"/>
              <a:t>상품명 클릭 시 미배치 리스트로 이동</a:t>
            </a:r>
            <a:endParaRPr lang="en-US" altLang="ko-KR" sz="21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E372444-91D2-704D-5C3E-FCAC5394B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081" y="3377035"/>
            <a:ext cx="10744200" cy="55530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010321D-BF1B-D873-D99F-535458CDD2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0080" y="10340180"/>
            <a:ext cx="5184149" cy="4023519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F571044D-4A63-0BA9-94A7-023ACF110EDC}"/>
              </a:ext>
            </a:extLst>
          </p:cNvPr>
          <p:cNvSpPr/>
          <p:nvPr/>
        </p:nvSpPr>
        <p:spPr>
          <a:xfrm>
            <a:off x="2550081" y="9769935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2100"/>
              <a:t>미배치 리스트 내 상품명 클릭 시 페이지</a:t>
            </a:r>
            <a:r>
              <a:rPr lang="en-US" altLang="ko-KR" sz="2100"/>
              <a:t>, </a:t>
            </a:r>
            <a:r>
              <a:rPr lang="ko-KR" altLang="en-US" sz="2100"/>
              <a:t>순서 상품 배치</a:t>
            </a:r>
            <a:endParaRPr lang="en-US" altLang="ko-KR" sz="2100"/>
          </a:p>
        </p:txBody>
      </p:sp>
    </p:spTree>
    <p:extLst>
      <p:ext uri="{BB962C8B-B14F-4D97-AF65-F5344CB8AC3E}">
        <p14:creationId xmlns:p14="http://schemas.microsoft.com/office/powerpoint/2010/main" val="40434208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27948-75EC-5236-F8A6-5094AD263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F54062-F9D5-E692-2C62-D27C47C45843}"/>
              </a:ext>
            </a:extLst>
          </p:cNvPr>
          <p:cNvSpPr/>
          <p:nvPr/>
        </p:nvSpPr>
        <p:spPr>
          <a:xfrm>
            <a:off x="939522" y="738188"/>
            <a:ext cx="6711077" cy="83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600"/>
              </a:lnSpc>
            </a:pPr>
            <a:r>
              <a:rPr lang="en-US" altLang="ko-KR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PDMS </a:t>
            </a:r>
            <a:r>
              <a:rPr lang="en-US" sz="525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사용 </a:t>
            </a:r>
            <a:r>
              <a:rPr lang="en-US" sz="5250" dirty="0">
                <a:solidFill>
                  <a:srgbClr val="5C4E3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방법</a:t>
            </a:r>
            <a:endParaRPr lang="en-US" sz="52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12E51FFD-284B-BAAF-24CB-FA1D133EF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22" y="1964416"/>
            <a:ext cx="1342192" cy="207014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881A557A-E886-9C21-C08E-28F251EB9A19}"/>
              </a:ext>
            </a:extLst>
          </p:cNvPr>
          <p:cNvSpPr/>
          <p:nvPr/>
        </p:nvSpPr>
        <p:spPr>
          <a:xfrm>
            <a:off x="2550081" y="2259395"/>
            <a:ext cx="335553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5. </a:t>
            </a:r>
            <a:r>
              <a:rPr lang="ko-KR" altLang="en-US" sz="2600">
                <a:solidFill>
                  <a:srgbClr val="45424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데이터 추출</a:t>
            </a:r>
            <a:endParaRPr lang="en-US" sz="2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D86B71A-B581-A62C-16E9-CB362F8B17DA}"/>
              </a:ext>
            </a:extLst>
          </p:cNvPr>
          <p:cNvSpPr/>
          <p:nvPr/>
        </p:nvSpPr>
        <p:spPr>
          <a:xfrm>
            <a:off x="2550081" y="2813095"/>
            <a:ext cx="11140678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2100"/>
              <a:t>우측 상단 </a:t>
            </a:r>
            <a:r>
              <a:rPr lang="en-US" altLang="ko-KR" sz="2100"/>
              <a:t>‘</a:t>
            </a:r>
            <a:r>
              <a:rPr lang="ko-KR" altLang="en-US" sz="2100"/>
              <a:t>데이터 추출</a:t>
            </a:r>
            <a:r>
              <a:rPr lang="en-US" altLang="ko-KR" sz="2100"/>
              <a:t>‘ </a:t>
            </a:r>
            <a:r>
              <a:rPr lang="ko-KR" altLang="en-US" sz="2100"/>
              <a:t>클릭</a:t>
            </a:r>
            <a:endParaRPr lang="en-US" altLang="ko-KR" sz="21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341464-44FE-34AA-8664-4ED061171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080" y="3644106"/>
            <a:ext cx="7474899" cy="7881144"/>
          </a:xfrm>
          <a:prstGeom prst="rect">
            <a:avLst/>
          </a:prstGeom>
        </p:spPr>
      </p:pic>
      <p:sp>
        <p:nvSpPr>
          <p:cNvPr id="6" name="Text 6">
            <a:extLst>
              <a:ext uri="{FF2B5EF4-FFF2-40B4-BE49-F238E27FC236}">
                <a16:creationId xmlns:a16="http://schemas.microsoft.com/office/drawing/2014/main" id="{715D85BB-ED9E-BAD2-BC58-9453C906B7CA}"/>
              </a:ext>
            </a:extLst>
          </p:cNvPr>
          <p:cNvSpPr/>
          <p:nvPr/>
        </p:nvSpPr>
        <p:spPr>
          <a:xfrm>
            <a:off x="2550081" y="11926682"/>
            <a:ext cx="11140678" cy="2094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en-US" altLang="ko-KR" sz="2100"/>
              <a:t>CSV </a:t>
            </a:r>
            <a:r>
              <a:rPr lang="ko-KR" altLang="en-US" sz="2100"/>
              <a:t>파일만 추출 </a:t>
            </a:r>
            <a:r>
              <a:rPr lang="en-US" altLang="ko-KR" sz="2100"/>
              <a:t>: </a:t>
            </a:r>
            <a:r>
              <a:rPr lang="ko-KR" altLang="en-US" sz="2100"/>
              <a:t>이미지를 제외한 상품 리스트 </a:t>
            </a:r>
            <a:r>
              <a:rPr lang="en-US" altLang="ko-KR" sz="2100"/>
              <a:t>csv</a:t>
            </a:r>
            <a:r>
              <a:rPr lang="ko-KR" altLang="en-US" sz="2100"/>
              <a:t>파일 추출</a:t>
            </a:r>
            <a:endParaRPr lang="en-US" altLang="ko-KR" sz="2100"/>
          </a:p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en-US" altLang="ko-KR" sz="2100"/>
              <a:t>CSV + </a:t>
            </a:r>
            <a:r>
              <a:rPr lang="ko-KR" altLang="en-US" sz="2100"/>
              <a:t>이미지 파일 추출 </a:t>
            </a:r>
            <a:r>
              <a:rPr lang="en-US" altLang="ko-KR" sz="2100"/>
              <a:t>: </a:t>
            </a:r>
            <a:r>
              <a:rPr lang="ko-KR" altLang="en-US" sz="2100"/>
              <a:t>적용된 이미지를 </a:t>
            </a:r>
            <a:r>
              <a:rPr lang="en-US" altLang="ko-KR" sz="2100"/>
              <a:t>Auto-DanGGA</a:t>
            </a:r>
            <a:r>
              <a:rPr lang="ko-KR" altLang="en-US" sz="2100"/>
              <a:t>에 사용할 수 있는 </a:t>
            </a:r>
            <a:endParaRPr lang="en-US" altLang="ko-KR" sz="2100"/>
          </a:p>
          <a:p>
            <a:pPr algn="l">
              <a:lnSpc>
                <a:spcPts val="3350"/>
              </a:lnSpc>
              <a:buSzPct val="100000"/>
            </a:pPr>
            <a:r>
              <a:rPr lang="ko-KR" altLang="en-US" sz="2100"/>
              <a:t>                                                     파일명으로 변경하여 </a:t>
            </a:r>
            <a:r>
              <a:rPr lang="en-US" altLang="ko-KR" sz="2100"/>
              <a:t>csv</a:t>
            </a:r>
            <a:r>
              <a:rPr lang="ko-KR" altLang="en-US" sz="2100"/>
              <a:t>파일과 함께 추출</a:t>
            </a:r>
            <a:endParaRPr lang="en-US" altLang="ko-KR" sz="2100"/>
          </a:p>
          <a:p>
            <a:pPr marL="342900" indent="-342900" algn="l">
              <a:lnSpc>
                <a:spcPts val="3350"/>
              </a:lnSpc>
              <a:buSzPct val="100000"/>
              <a:buChar char="•"/>
            </a:pPr>
            <a:r>
              <a:rPr lang="ko-KR" altLang="en-US" sz="2100"/>
              <a:t>전체 패키지 추출</a:t>
            </a:r>
            <a:r>
              <a:rPr lang="en-US" altLang="ko-KR" sz="2100"/>
              <a:t>(ZIP) : CSV</a:t>
            </a:r>
            <a:r>
              <a:rPr lang="ko-KR" altLang="en-US" sz="2100"/>
              <a:t>파일과 이미지 파일을 압축하여 추출</a:t>
            </a:r>
            <a:endParaRPr lang="en-US" altLang="ko-KR" sz="2100"/>
          </a:p>
        </p:txBody>
      </p:sp>
    </p:spTree>
    <p:extLst>
      <p:ext uri="{BB962C8B-B14F-4D97-AF65-F5344CB8AC3E}">
        <p14:creationId xmlns:p14="http://schemas.microsoft.com/office/powerpoint/2010/main" val="1964492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390</TotalTime>
  <Words>1828</Words>
  <Application>Microsoft Office PowerPoint</Application>
  <PresentationFormat>사용자 지정</PresentationFormat>
  <Paragraphs>344</Paragraphs>
  <Slides>26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8" baseType="lpstr">
      <vt:lpstr>G마켓 산스 TTF Bold</vt:lpstr>
      <vt:lpstr>Pretendard Light</vt:lpstr>
      <vt:lpstr>Pretendard Variable Medium</vt:lpstr>
      <vt:lpstr>Pretendard Variable</vt:lpstr>
      <vt:lpstr>나눔바른고딕</vt:lpstr>
      <vt:lpstr>Pretendard Medium</vt:lpstr>
      <vt:lpstr>Pretendard Black</vt:lpstr>
      <vt:lpstr>Pretendard Variable Light</vt:lpstr>
      <vt:lpstr>함초롬바탕</vt:lpstr>
      <vt:lpstr>Arial</vt:lpstr>
      <vt:lpstr>Pretendard 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MJ Kim</dc:creator>
  <cp:lastModifiedBy>MJ Kim</cp:lastModifiedBy>
  <cp:revision>4</cp:revision>
  <cp:lastPrinted>2025-09-04T06:55:38Z</cp:lastPrinted>
  <dcterms:created xsi:type="dcterms:W3CDTF">2025-09-04T04:11:41Z</dcterms:created>
  <dcterms:modified xsi:type="dcterms:W3CDTF">2025-11-04T07:59:38Z</dcterms:modified>
</cp:coreProperties>
</file>